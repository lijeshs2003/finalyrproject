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4" r:id="rId15"/>
    <p:sldId id="276" r:id="rId16"/>
    <p:sldId id="275" r:id="rId17"/>
    <p:sldId id="277" r:id="rId18"/>
    <p:sldId id="278" r:id="rId19"/>
    <p:sldId id="279" r:id="rId20"/>
    <p:sldId id="282" r:id="rId21"/>
    <p:sldId id="283" r:id="rId22"/>
    <p:sldId id="284" r:id="rId23"/>
    <p:sldId id="285" r:id="rId24"/>
    <p:sldId id="287" r:id="rId25"/>
  </p:sldIdLst>
  <p:sldSz cx="9144000" cy="6858000" type="screen4x3"/>
  <p:notesSz cx="6888163" cy="10020300"/>
  <p:embeddedFontLst>
    <p:embeddedFont>
      <p:font typeface="Arial Black" panose="020B0A04020102020204" pitchFamily="34" charset="0"/>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n0z3UFpGsqSti87/YGjh/ePrG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8FC6C2-C216-4D67-AB50-5D9523515CF3}">
  <a:tblStyle styleId="{248FC6C2-C216-4D67-AB50-5D9523515CF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A87A7AA-2CAE-48E3-BB80-2CF8E67B253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15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84871" cy="501015"/>
          </a:xfrm>
          <a:prstGeom prst="rect">
            <a:avLst/>
          </a:prstGeom>
          <a:noFill/>
          <a:ln>
            <a:noFill/>
          </a:ln>
        </p:spPr>
        <p:txBody>
          <a:bodyPr spcFirstLastPara="1" wrap="square" lIns="96600" tIns="48300" rIns="96600" bIns="48300"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01698" y="0"/>
            <a:ext cx="2984871" cy="501015"/>
          </a:xfrm>
          <a:prstGeom prst="rect">
            <a:avLst/>
          </a:prstGeom>
          <a:noFill/>
          <a:ln>
            <a:noFill/>
          </a:ln>
        </p:spPr>
        <p:txBody>
          <a:bodyPr spcFirstLastPara="1" wrap="square" lIns="96600" tIns="48300" rIns="96600" bIns="48300"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8817" y="4759643"/>
            <a:ext cx="5510530" cy="4509135"/>
          </a:xfrm>
          <a:prstGeom prst="rect">
            <a:avLst/>
          </a:prstGeom>
          <a:noFill/>
          <a:ln>
            <a:noFill/>
          </a:ln>
        </p:spPr>
        <p:txBody>
          <a:bodyPr spcFirstLastPara="1" wrap="square" lIns="96600" tIns="48300" rIns="96600" bIns="483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517546"/>
            <a:ext cx="2984871" cy="501015"/>
          </a:xfrm>
          <a:prstGeom prst="rect">
            <a:avLst/>
          </a:prstGeom>
          <a:noFill/>
          <a:ln>
            <a:noFill/>
          </a:ln>
        </p:spPr>
        <p:txBody>
          <a:bodyPr spcFirstLastPara="1" wrap="square" lIns="96600" tIns="48300" rIns="96600" bIns="48300"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01698" y="9517546"/>
            <a:ext cx="2984871" cy="501015"/>
          </a:xfrm>
          <a:prstGeom prst="rect">
            <a:avLst/>
          </a:prstGeom>
          <a:noFill/>
          <a:ln>
            <a:noFill/>
          </a:ln>
        </p:spPr>
        <p:txBody>
          <a:bodyPr spcFirstLastPara="1" wrap="square" lIns="96600" tIns="48300" rIns="96600" bIns="48300"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ftr" idx="11"/>
          </p:nvPr>
        </p:nvSpPr>
        <p:spPr>
          <a:xfrm>
            <a:off x="0" y="9517546"/>
            <a:ext cx="2984871" cy="501015"/>
          </a:xfrm>
          <a:prstGeom prst="rect">
            <a:avLst/>
          </a:prstGeom>
          <a:noFill/>
          <a:ln>
            <a:noFill/>
          </a:ln>
        </p:spPr>
        <p:txBody>
          <a:bodyPr spcFirstLastPara="1" wrap="square" lIns="96600" tIns="48300" rIns="96600" bIns="48300" anchor="b" anchorCtr="0">
            <a:noAutofit/>
          </a:bodyPr>
          <a:lstStyle/>
          <a:p>
            <a:pPr marL="0" lvl="0" indent="0" algn="l" rtl="0">
              <a:spcBef>
                <a:spcPts val="0"/>
              </a:spcBef>
              <a:spcAft>
                <a:spcPts val="0"/>
              </a:spcAft>
              <a:buNone/>
            </a:pPr>
            <a:r>
              <a:rPr lang="en-US"/>
              <a:t>fvffb</a:t>
            </a:r>
            <a:endParaRPr/>
          </a:p>
        </p:txBody>
      </p:sp>
      <p:sp>
        <p:nvSpPr>
          <p:cNvPr id="86" name="Google Shape;86;p1: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 name="Google Shape;87;p1:notes"/>
          <p:cNvSpPr txBox="1">
            <a:spLocks noGrp="1"/>
          </p:cNvSpPr>
          <p:nvPr>
            <p:ph type="body" idx="1"/>
          </p:nvPr>
        </p:nvSpPr>
        <p:spPr>
          <a:xfrm>
            <a:off x="688817" y="4759643"/>
            <a:ext cx="5510530" cy="4509135"/>
          </a:xfrm>
          <a:prstGeom prst="rect">
            <a:avLst/>
          </a:prstGeom>
          <a:noFill/>
          <a:ln>
            <a:noFill/>
          </a:ln>
        </p:spPr>
        <p:txBody>
          <a:bodyPr spcFirstLastPara="1" wrap="square" lIns="96600" tIns="48300" rIns="96600" bIns="48300" anchor="t" anchorCtr="0">
            <a:norm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901698" y="9517546"/>
            <a:ext cx="2984871" cy="501015"/>
          </a:xfrm>
          <a:prstGeom prst="rect">
            <a:avLst/>
          </a:prstGeom>
          <a:noFill/>
          <a:ln>
            <a:noFill/>
          </a:ln>
        </p:spPr>
        <p:txBody>
          <a:bodyPr spcFirstLastPara="1" wrap="square" lIns="96600" tIns="48300" rIns="96600" bIns="483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
        <p:nvSpPr>
          <p:cNvPr id="89" name="Google Shape;89;p1:notes"/>
          <p:cNvSpPr txBox="1">
            <a:spLocks noGrp="1"/>
          </p:cNvSpPr>
          <p:nvPr>
            <p:ph type="hdr" idx="3"/>
          </p:nvPr>
        </p:nvSpPr>
        <p:spPr>
          <a:xfrm>
            <a:off x="0" y="0"/>
            <a:ext cx="2984871" cy="501015"/>
          </a:xfrm>
          <a:prstGeom prst="rect">
            <a:avLst/>
          </a:prstGeom>
          <a:noFill/>
          <a:ln>
            <a:noFill/>
          </a:ln>
        </p:spPr>
        <p:txBody>
          <a:bodyPr spcFirstLastPara="1" wrap="square" lIns="96600" tIns="48300" rIns="96600" bIns="48300" anchor="t" anchorCtr="0">
            <a:noAutofit/>
          </a:bodyPr>
          <a:lstStyle/>
          <a:p>
            <a:pPr marL="0" lvl="0" indent="0" algn="l" rtl="0">
              <a:spcBef>
                <a:spcPts val="0"/>
              </a:spcBef>
              <a:spcAft>
                <a:spcPts val="0"/>
              </a:spcAft>
              <a:buNone/>
            </a:pPr>
            <a:r>
              <a:rPr lang="en-US">
                <a:latin typeface="Calibri"/>
                <a:ea typeface="Calibri"/>
                <a:cs typeface="Calibri"/>
                <a:sym typeface="Calibri"/>
              </a:rPr>
              <a:t>Easwari Engineering College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13" name="Google Shape;113;p2: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22" name="Google Shape;122;p3: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40" name="Google Shape;140;p5: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50" name="Google Shape;150;p6: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59" name="Google Shape;159;p7: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68" name="Google Shape;168;p8: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77" name="Google Shape;177;p9: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86" name="Google Shape;186;p10: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195" name="Google Shape;195;p11: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2: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05" name="Google Shape;205;p12: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14" name="Google Shape;214;p13: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4: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23" name="Google Shape;223;p14: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9: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69" name="Google Shape;269;p19: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1: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90" name="Google Shape;290;p21: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0: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278" name="Google Shape;278;p20: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2: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01" name="Google Shape;301;p22: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3: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14" name="Google Shape;314;p23: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4: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24" name="Google Shape;324;p24: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7: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56" name="Google Shape;356;p27: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8: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65" name="Google Shape;365;p28: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74" name="Google Shape;374;p29: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0: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384" name="Google Shape;384;p30: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2:notes"/>
          <p:cNvSpPr txBox="1">
            <a:spLocks noGrp="1"/>
          </p:cNvSpPr>
          <p:nvPr>
            <p:ph type="body" idx="1"/>
          </p:nvPr>
        </p:nvSpPr>
        <p:spPr>
          <a:xfrm>
            <a:off x="688817" y="4759643"/>
            <a:ext cx="5510530" cy="4509135"/>
          </a:xfrm>
          <a:prstGeom prst="rect">
            <a:avLst/>
          </a:prstGeom>
        </p:spPr>
        <p:txBody>
          <a:bodyPr spcFirstLastPara="1" wrap="square" lIns="96600" tIns="48300" rIns="96600" bIns="48300" anchor="t" anchorCtr="0">
            <a:noAutofit/>
          </a:bodyPr>
          <a:lstStyle/>
          <a:p>
            <a:pPr marL="0" lvl="0" indent="0" algn="l" rtl="0">
              <a:spcBef>
                <a:spcPts val="360"/>
              </a:spcBef>
              <a:spcAft>
                <a:spcPts val="0"/>
              </a:spcAft>
              <a:buNone/>
            </a:pPr>
            <a:endParaRPr/>
          </a:p>
        </p:txBody>
      </p:sp>
      <p:sp>
        <p:nvSpPr>
          <p:cNvPr id="404" name="Google Shape;404;p32:notes"/>
          <p:cNvSpPr>
            <a:spLocks noGrp="1" noRot="1" noChangeAspect="1"/>
          </p:cNvSpPr>
          <p:nvPr>
            <p:ph type="sldImg" idx="2"/>
          </p:nvPr>
        </p:nvSpPr>
        <p:spPr>
          <a:xfrm>
            <a:off x="939800" y="750888"/>
            <a:ext cx="500856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3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3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3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3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3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3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3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4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42"/>
          <p:cNvSpPr>
            <a:spLocks noGrp="1"/>
          </p:cNvSpPr>
          <p:nvPr>
            <p:ph type="pic" idx="2"/>
          </p:nvPr>
        </p:nvSpPr>
        <p:spPr>
          <a:xfrm>
            <a:off x="1792288" y="612775"/>
            <a:ext cx="5486400" cy="4114800"/>
          </a:xfrm>
          <a:prstGeom prst="rect">
            <a:avLst/>
          </a:prstGeom>
          <a:noFill/>
          <a:ln>
            <a:noFill/>
          </a:ln>
        </p:spPr>
      </p:sp>
      <p:sp>
        <p:nvSpPr>
          <p:cNvPr id="68" name="Google Shape;68;p4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4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4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searchgate.net/publication/351500641_Detection_of_Adulteration_in_Fruits_Using_Machine_Learni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ijcrt.org/papers/IJCRT23A4108.pdf"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dt" idx="10"/>
          </p:nvPr>
        </p:nvSpPr>
        <p:spPr>
          <a:xfrm>
            <a:off x="533400" y="632460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24/03/2025</a:t>
            </a:r>
          </a:p>
        </p:txBody>
      </p:sp>
      <p:sp>
        <p:nvSpPr>
          <p:cNvPr id="92" name="Google Shape;92;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
        <p:nvSpPr>
          <p:cNvPr id="93" name="Google Shape;93;p1"/>
          <p:cNvSpPr txBox="1"/>
          <p:nvPr/>
        </p:nvSpPr>
        <p:spPr>
          <a:xfrm>
            <a:off x="381000" y="1676400"/>
            <a:ext cx="8077200" cy="426720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endParaRPr sz="4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endParaRPr sz="4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endParaRPr sz="4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endParaRPr sz="4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endParaRPr sz="44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228600" y="0"/>
            <a:ext cx="8458200" cy="2286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Arial Black"/>
              <a:ea typeface="Arial Black"/>
              <a:cs typeface="Arial Black"/>
              <a:sym typeface="Arial Black"/>
            </a:endParaRPr>
          </a:p>
        </p:txBody>
      </p:sp>
      <p:sp>
        <p:nvSpPr>
          <p:cNvPr id="95" name="Google Shape;95;p1"/>
          <p:cNvSpPr txBox="1"/>
          <p:nvPr/>
        </p:nvSpPr>
        <p:spPr>
          <a:xfrm>
            <a:off x="7239000" y="609600"/>
            <a:ext cx="1600200" cy="685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Calibri"/>
              <a:ea typeface="Calibri"/>
              <a:cs typeface="Calibri"/>
              <a:sym typeface="Calibri"/>
            </a:endParaRPr>
          </a:p>
        </p:txBody>
      </p:sp>
      <p:sp>
        <p:nvSpPr>
          <p:cNvPr id="96" name="Google Shape;96;p1"/>
          <p:cNvSpPr txBox="1"/>
          <p:nvPr/>
        </p:nvSpPr>
        <p:spPr>
          <a:xfrm>
            <a:off x="76200" y="2363124"/>
            <a:ext cx="8991600" cy="989494"/>
          </a:xfrm>
          <a:prstGeom prst="rect">
            <a:avLst/>
          </a:prstGeom>
          <a:noFill/>
          <a:ln>
            <a:noFill/>
          </a:ln>
        </p:spPr>
        <p:txBody>
          <a:bodyPr spcFirstLastPara="1" wrap="square" lIns="91425" tIns="45700" rIns="91425" bIns="45700" anchor="ctr" anchorCtr="0">
            <a:noAutofit/>
          </a:bodyPr>
          <a:lstStyle/>
          <a:p>
            <a:pPr algn="ctr" fontAlgn="auto">
              <a:spcAft>
                <a:spcPts val="0"/>
              </a:spcAft>
              <a:defRPr/>
            </a:pPr>
            <a:r>
              <a:rPr lang="en-US" sz="2800" dirty="0">
                <a:latin typeface="Times New Roman" panose="02020603050405020304" pitchFamily="18" charset="0"/>
                <a:ea typeface="+mj-ea"/>
                <a:cs typeface="Times New Roman" panose="02020603050405020304" pitchFamily="18" charset="0"/>
              </a:rPr>
              <a:t>SENSOR BASED CHEMICAL ADULTERATION DETECTION IN FRUITS USING MACHINE LEARNING</a:t>
            </a:r>
          </a:p>
        </p:txBody>
      </p:sp>
      <p:sp>
        <p:nvSpPr>
          <p:cNvPr id="97" name="Google Shape;97;p1"/>
          <p:cNvSpPr txBox="1"/>
          <p:nvPr/>
        </p:nvSpPr>
        <p:spPr>
          <a:xfrm>
            <a:off x="7239000" y="2743200"/>
            <a:ext cx="1600200" cy="990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Calibri"/>
              <a:ea typeface="Calibri"/>
              <a:cs typeface="Calibri"/>
              <a:sym typeface="Calibri"/>
            </a:endParaRPr>
          </a:p>
        </p:txBody>
      </p:sp>
      <p:sp>
        <p:nvSpPr>
          <p:cNvPr id="98" name="Google Shape;98;p1"/>
          <p:cNvSpPr txBox="1"/>
          <p:nvPr/>
        </p:nvSpPr>
        <p:spPr>
          <a:xfrm>
            <a:off x="533400" y="5867400"/>
            <a:ext cx="7772400" cy="5334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dk1"/>
              </a:buClr>
              <a:buSzPts val="3200"/>
              <a:buFont typeface="Arial"/>
              <a:buNone/>
            </a:pPr>
            <a:endParaRPr sz="3200" b="1" i="0" u="none" strike="noStrike" cap="none">
              <a:solidFill>
                <a:srgbClr val="888888"/>
              </a:solidFill>
              <a:latin typeface="Calibri"/>
              <a:ea typeface="Calibri"/>
              <a:cs typeface="Calibri"/>
              <a:sym typeface="Calibri"/>
            </a:endParaRPr>
          </a:p>
        </p:txBody>
      </p:sp>
      <p:sp>
        <p:nvSpPr>
          <p:cNvPr id="99" name="Google Shape;99;p1"/>
          <p:cNvSpPr txBox="1"/>
          <p:nvPr/>
        </p:nvSpPr>
        <p:spPr>
          <a:xfrm>
            <a:off x="7315200" y="5181600"/>
            <a:ext cx="1600200" cy="990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Calibri"/>
              <a:ea typeface="Calibri"/>
              <a:cs typeface="Calibri"/>
              <a:sym typeface="Calibri"/>
            </a:endParaRPr>
          </a:p>
        </p:txBody>
      </p:sp>
      <p:sp>
        <p:nvSpPr>
          <p:cNvPr id="100" name="Google Shape;100;p1"/>
          <p:cNvSpPr txBox="1"/>
          <p:nvPr/>
        </p:nvSpPr>
        <p:spPr>
          <a:xfrm>
            <a:off x="7315200" y="5181600"/>
            <a:ext cx="1600200" cy="990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Calibri"/>
              <a:ea typeface="Calibri"/>
              <a:cs typeface="Calibri"/>
              <a:sym typeface="Calibri"/>
            </a:endParaRPr>
          </a:p>
        </p:txBody>
      </p:sp>
      <p:sp>
        <p:nvSpPr>
          <p:cNvPr id="101" name="Google Shape;101;p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Calibri"/>
                <a:ea typeface="Calibri"/>
                <a:cs typeface="Calibri"/>
                <a:sym typeface="Calibri"/>
              </a:rPr>
              <a:pPr marL="0" marR="0" lvl="0" indent="0" algn="r" rtl="0">
                <a:spcBef>
                  <a:spcPts val="0"/>
                </a:spcBef>
                <a:spcAft>
                  <a:spcPts val="0"/>
                </a:spcAft>
                <a:buNone/>
              </a:pPr>
              <a:t>1</a:t>
            </a:fld>
            <a:endParaRPr sz="1200" b="0" i="0" u="none" strike="noStrike" cap="none">
              <a:solidFill>
                <a:srgbClr val="888888"/>
              </a:solidFill>
              <a:latin typeface="Calibri"/>
              <a:ea typeface="Calibri"/>
              <a:cs typeface="Calibri"/>
              <a:sym typeface="Calibri"/>
            </a:endParaRPr>
          </a:p>
        </p:txBody>
      </p:sp>
      <p:sp>
        <p:nvSpPr>
          <p:cNvPr id="102" name="Google Shape;10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pic>
        <p:nvPicPr>
          <p:cNvPr id="104" name="Google Shape;104;p1"/>
          <p:cNvPicPr preferRelativeResize="0"/>
          <p:nvPr/>
        </p:nvPicPr>
        <p:blipFill rotWithShape="1">
          <a:blip r:embed="rId3">
            <a:alphaModFix/>
          </a:blip>
          <a:srcRect l="6023" t="4218" r="6625"/>
          <a:stretch/>
        </p:blipFill>
        <p:spPr>
          <a:xfrm>
            <a:off x="304800" y="457200"/>
            <a:ext cx="1228725" cy="1295400"/>
          </a:xfrm>
          <a:prstGeom prst="rect">
            <a:avLst/>
          </a:prstGeom>
          <a:noFill/>
          <a:ln>
            <a:noFill/>
          </a:ln>
        </p:spPr>
      </p:pic>
      <p:sp>
        <p:nvSpPr>
          <p:cNvPr id="105" name="Google Shape;105;p1"/>
          <p:cNvSpPr/>
          <p:nvPr/>
        </p:nvSpPr>
        <p:spPr>
          <a:xfrm>
            <a:off x="0" y="0"/>
            <a:ext cx="9144000" cy="457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1"/>
          <p:cNvSpPr/>
          <p:nvPr/>
        </p:nvSpPr>
        <p:spPr>
          <a:xfrm>
            <a:off x="-304800" y="199712"/>
            <a:ext cx="9144000" cy="155427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700"/>
              <a:buFont typeface="Times New Roman"/>
              <a:buNone/>
            </a:pPr>
            <a:r>
              <a:rPr lang="en-US" sz="1700" b="1" i="0" u="none" strike="noStrike" cap="none" dirty="0">
                <a:solidFill>
                  <a:schemeClr val="dk1"/>
                </a:solidFill>
                <a:latin typeface="Times New Roman"/>
                <a:ea typeface="Times New Roman"/>
                <a:cs typeface="Times New Roman"/>
                <a:sym typeface="Times New Roman"/>
              </a:rPr>
              <a:t>                           		</a:t>
            </a:r>
            <a:r>
              <a:rPr lang="en-US" sz="1400" b="1" i="0" u="none" strike="noStrike" cap="none" dirty="0">
                <a:solidFill>
                  <a:schemeClr val="dk1"/>
                </a:solidFill>
                <a:latin typeface="Times New Roman"/>
                <a:ea typeface="Times New Roman"/>
                <a:cs typeface="Times New Roman"/>
                <a:sym typeface="Times New Roman"/>
              </a:rPr>
              <a:t>EASWARI ENGINEERING COLLEGE</a:t>
            </a:r>
            <a:endParaRPr sz="14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b="1" i="0" u="none" strike="noStrike" cap="none" dirty="0">
                <a:solidFill>
                  <a:schemeClr val="dk1"/>
                </a:solidFill>
                <a:latin typeface="Times New Roman"/>
                <a:ea typeface="Times New Roman"/>
                <a:cs typeface="Times New Roman"/>
                <a:sym typeface="Times New Roman"/>
              </a:rPr>
              <a:t>			           (An Autonomous Institution)</a:t>
            </a:r>
            <a:endParaRPr sz="1400" b="0" i="0" u="none" strike="noStrike" cap="none" dirty="0">
              <a:solidFill>
                <a:schemeClr val="dk1"/>
              </a:solidFill>
              <a:latin typeface="Times New Roman"/>
              <a:ea typeface="Times New Roman"/>
              <a:cs typeface="Times New Roman"/>
              <a:sym typeface="Times New Roman"/>
            </a:endParaRPr>
          </a:p>
          <a:p>
            <a:pPr lvl="0">
              <a:buClr>
                <a:schemeClr val="dk1"/>
              </a:buClr>
              <a:buSzPts val="1400"/>
            </a:pPr>
            <a:r>
              <a:rPr lang="en-US" sz="1400" b="1" i="0" u="none" strike="noStrike" cap="none" dirty="0">
                <a:solidFill>
                  <a:schemeClr val="dk1"/>
                </a:solidFill>
                <a:latin typeface="Times New Roman"/>
                <a:ea typeface="Times New Roman"/>
                <a:cs typeface="Times New Roman"/>
                <a:sym typeface="Times New Roman"/>
              </a:rPr>
              <a:t>		</a:t>
            </a:r>
            <a:r>
              <a:rPr lang="en-US" sz="1400" b="1" i="0" u="none" strike="noStrike" cap="none">
                <a:solidFill>
                  <a:schemeClr val="dk1"/>
                </a:solidFill>
                <a:latin typeface="Times New Roman"/>
                <a:ea typeface="Times New Roman"/>
                <a:cs typeface="Times New Roman"/>
                <a:sym typeface="Times New Roman"/>
              </a:rPr>
              <a:t>	Bharathi </a:t>
            </a:r>
            <a:r>
              <a:rPr lang="en-US" sz="1400" b="1" i="0" u="none" strike="noStrike" cap="none" dirty="0">
                <a:solidFill>
                  <a:schemeClr val="dk1"/>
                </a:solidFill>
                <a:latin typeface="Times New Roman"/>
                <a:ea typeface="Times New Roman"/>
                <a:cs typeface="Times New Roman"/>
                <a:sym typeface="Times New Roman"/>
              </a:rPr>
              <a:t>Salai, </a:t>
            </a:r>
            <a:r>
              <a:rPr lang="en-US" b="1" dirty="0">
                <a:solidFill>
                  <a:schemeClr val="dk1"/>
                </a:solidFill>
                <a:latin typeface="Times New Roman"/>
                <a:ea typeface="Times New Roman"/>
                <a:cs typeface="Times New Roman"/>
                <a:sym typeface="Times New Roman"/>
              </a:rPr>
              <a:t>Chennai </a:t>
            </a:r>
            <a:r>
              <a:rPr lang="en-US" b="1" dirty="0" err="1">
                <a:solidFill>
                  <a:schemeClr val="dk1"/>
                </a:solidFill>
                <a:latin typeface="Times New Roman"/>
                <a:ea typeface="Times New Roman"/>
                <a:cs typeface="Times New Roman"/>
                <a:sym typeface="Times New Roman"/>
              </a:rPr>
              <a:t>Ramapuram</a:t>
            </a:r>
            <a:r>
              <a:rPr lang="en-US" b="1" dirty="0">
                <a:solidFill>
                  <a:schemeClr val="dk1"/>
                </a:solidFill>
                <a:latin typeface="Times New Roman"/>
                <a:ea typeface="Times New Roman"/>
                <a:cs typeface="Times New Roman"/>
                <a:sym typeface="Times New Roman"/>
              </a:rPr>
              <a:t>, – </a:t>
            </a:r>
            <a:r>
              <a:rPr lang="en-US" sz="1400" b="1" i="0" u="none" strike="noStrike" cap="none" dirty="0">
                <a:solidFill>
                  <a:schemeClr val="dk1"/>
                </a:solidFill>
                <a:latin typeface="Times New Roman"/>
                <a:ea typeface="Times New Roman"/>
                <a:cs typeface="Times New Roman"/>
                <a:sym typeface="Times New Roman"/>
              </a:rPr>
              <a:t>6000 89</a:t>
            </a:r>
            <a:endParaRPr sz="1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b="1" i="0" u="none" strike="noStrike" cap="none" dirty="0">
                <a:solidFill>
                  <a:schemeClr val="dk1"/>
                </a:solidFill>
                <a:latin typeface="Times New Roman"/>
                <a:ea typeface="Times New Roman"/>
                <a:cs typeface="Times New Roman"/>
                <a:sym typeface="Times New Roman"/>
              </a:rPr>
              <a:t>		DEPARTMENT OF COMPUTER SCIENCE &amp; ENGINEERING</a:t>
            </a:r>
            <a:endParaRPr sz="1400" b="0"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a:solidFill>
                  <a:schemeClr val="dk1"/>
                </a:solidFill>
                <a:latin typeface="Arial"/>
                <a:ea typeface="Arial"/>
                <a:cs typeface="Arial"/>
                <a:sym typeface="Arial"/>
              </a:rPr>
              <a:t>		</a:t>
            </a:r>
            <a:r>
              <a:rPr lang="en-US" sz="1600" b="1" dirty="0">
                <a:solidFill>
                  <a:schemeClr val="dk1"/>
                </a:solidFill>
                <a:latin typeface="Times New Roman"/>
                <a:ea typeface="Times New Roman"/>
                <a:cs typeface="Times New Roman"/>
                <a:sym typeface="Times New Roman"/>
              </a:rPr>
              <a:t>191CSP811J - PROJECT WORK / STARTUP – PHASE - II</a:t>
            </a:r>
            <a:endParaRPr sz="16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p:txBody>
      </p:sp>
      <p:sp>
        <p:nvSpPr>
          <p:cNvPr id="107" name="Google Shape;107;p1"/>
          <p:cNvSpPr txBox="1"/>
          <p:nvPr/>
        </p:nvSpPr>
        <p:spPr>
          <a:xfrm>
            <a:off x="2324100" y="1424328"/>
            <a:ext cx="4229100" cy="990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dirty="0">
                <a:solidFill>
                  <a:schemeClr val="dk1"/>
                </a:solidFill>
                <a:latin typeface="Times New Roman"/>
                <a:ea typeface="Times New Roman"/>
                <a:cs typeface="Times New Roman"/>
                <a:sym typeface="Times New Roman"/>
              </a:rPr>
              <a:t>FINAL PROJECT REVIEW</a:t>
            </a:r>
            <a:endParaRPr lang="en-US" sz="3200" dirty="0"/>
          </a:p>
        </p:txBody>
      </p:sp>
      <p:sp>
        <p:nvSpPr>
          <p:cNvPr id="108" name="Google Shape;108;p1"/>
          <p:cNvSpPr txBox="1"/>
          <p:nvPr/>
        </p:nvSpPr>
        <p:spPr>
          <a:xfrm>
            <a:off x="302159" y="4493443"/>
            <a:ext cx="502920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Student Members:</a:t>
            </a:r>
            <a:endParaRPr sz="2000" dirty="0">
              <a:solidFill>
                <a:schemeClr val="dk1"/>
              </a:solidFill>
              <a:latin typeface="Times New Roman"/>
              <a:ea typeface="Times New Roman"/>
              <a:cs typeface="Times New Roman"/>
              <a:sym typeface="Times New Roman"/>
            </a:endParaRPr>
          </a:p>
          <a:p>
            <a:r>
              <a:rPr lang="en-US" sz="2000" dirty="0" err="1"/>
              <a:t>Lijesh</a:t>
            </a:r>
            <a:r>
              <a:rPr lang="en-US" sz="2000" dirty="0"/>
              <a:t> S(310621104084)</a:t>
            </a:r>
          </a:p>
          <a:p>
            <a:r>
              <a:rPr lang="en-US" sz="2000" dirty="0" err="1"/>
              <a:t>Nagavelan</a:t>
            </a:r>
            <a:r>
              <a:rPr lang="en-US" sz="2000" dirty="0"/>
              <a:t> G(310621104101)</a:t>
            </a:r>
          </a:p>
          <a:p>
            <a:r>
              <a:rPr lang="en-US" sz="2000" dirty="0"/>
              <a:t>Pichu </a:t>
            </a:r>
            <a:r>
              <a:rPr lang="en-US" sz="2000" dirty="0" err="1"/>
              <a:t>Snegan</a:t>
            </a:r>
            <a:r>
              <a:rPr lang="en-US" sz="2000" dirty="0"/>
              <a:t> I(310621104115)</a:t>
            </a:r>
          </a:p>
          <a:p>
            <a:pPr marL="0" marR="0" lvl="0" indent="0" algn="l" rtl="0">
              <a:spcBef>
                <a:spcPts val="0"/>
              </a:spcBef>
              <a:spcAft>
                <a:spcPts val="0"/>
              </a:spcAft>
              <a:buNone/>
            </a:pPr>
            <a:endParaRPr dirty="0"/>
          </a:p>
        </p:txBody>
      </p:sp>
      <p:sp>
        <p:nvSpPr>
          <p:cNvPr id="109" name="Google Shape;109;p1"/>
          <p:cNvSpPr txBox="1"/>
          <p:nvPr/>
        </p:nvSpPr>
        <p:spPr>
          <a:xfrm>
            <a:off x="5762620" y="4443514"/>
            <a:ext cx="2819400" cy="1046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Supervisor:</a:t>
            </a:r>
            <a:endParaRPr sz="2000" dirty="0">
              <a:solidFill>
                <a:schemeClr val="dk1"/>
              </a:solidFill>
              <a:latin typeface="Times New Roman"/>
              <a:ea typeface="Times New Roman"/>
              <a:cs typeface="Times New Roman"/>
              <a:sym typeface="Times New Roman"/>
            </a:endParaRPr>
          </a:p>
          <a:p>
            <a:pPr fontAlgn="auto">
              <a:spcAft>
                <a:spcPts val="0"/>
              </a:spcAft>
              <a:defRPr/>
            </a:pPr>
            <a:r>
              <a:rPr lang="en-US" sz="1800" dirty="0" err="1">
                <a:ea typeface="+mj-ea"/>
              </a:rPr>
              <a:t>Dr.Padmavati</a:t>
            </a:r>
            <a:r>
              <a:rPr lang="en-US" sz="1800" dirty="0">
                <a:ea typeface="+mj-ea"/>
              </a:rPr>
              <a:t> B </a:t>
            </a:r>
          </a:p>
          <a:p>
            <a:pPr fontAlgn="auto">
              <a:spcAft>
                <a:spcPts val="0"/>
              </a:spcAft>
              <a:defRPr/>
            </a:pPr>
            <a:r>
              <a:rPr lang="en-US" sz="1800" dirty="0">
                <a:ea typeface="+mj-ea"/>
              </a:rPr>
              <a:t>Assistant Professor/CSE</a:t>
            </a:r>
          </a:p>
        </p:txBody>
      </p:sp>
      <p:pic>
        <p:nvPicPr>
          <p:cNvPr id="3" name="Picture 2">
            <a:extLst>
              <a:ext uri="{FF2B5EF4-FFF2-40B4-BE49-F238E27FC236}">
                <a16:creationId xmlns:a16="http://schemas.microsoft.com/office/drawing/2014/main" id="{DFA88CC7-FC2B-5DA2-33BD-03D235926DE4}"/>
              </a:ext>
            </a:extLst>
          </p:cNvPr>
          <p:cNvPicPr>
            <a:picLocks noChangeAspect="1"/>
          </p:cNvPicPr>
          <p:nvPr/>
        </p:nvPicPr>
        <p:blipFill>
          <a:blip r:embed="rId4"/>
          <a:stretch>
            <a:fillRect/>
          </a:stretch>
        </p:blipFill>
        <p:spPr>
          <a:xfrm>
            <a:off x="6796088" y="0"/>
            <a:ext cx="2438400" cy="19059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latin typeface="Times New Roman"/>
                <a:ea typeface="Times New Roman"/>
                <a:cs typeface="Times New Roman"/>
                <a:sym typeface="Times New Roman"/>
              </a:rPr>
              <a:t>Introduction </a:t>
            </a:r>
            <a:endParaRPr dirty="0"/>
          </a:p>
        </p:txBody>
      </p:sp>
      <p:sp>
        <p:nvSpPr>
          <p:cNvPr id="116" name="Google Shape;1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pPr marL="0" lvl="0" indent="0" algn="l" rtl="0">
              <a:spcBef>
                <a:spcPts val="0"/>
              </a:spcBef>
              <a:spcAft>
                <a:spcPts val="0"/>
              </a:spcAft>
              <a:buNone/>
            </a:pPr>
            <a:endParaRPr lang="en-US" dirty="0"/>
          </a:p>
        </p:txBody>
      </p:sp>
      <p:sp>
        <p:nvSpPr>
          <p:cNvPr id="117" name="Google Shape;1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118" name="Google Shape;1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
        <p:nvSpPr>
          <p:cNvPr id="3" name="Rectangle 2">
            <a:extLst>
              <a:ext uri="{FF2B5EF4-FFF2-40B4-BE49-F238E27FC236}">
                <a16:creationId xmlns:a16="http://schemas.microsoft.com/office/drawing/2014/main" id="{5D57F8DB-78CD-5AAF-0ED1-6246EF366343}"/>
              </a:ext>
            </a:extLst>
          </p:cNvPr>
          <p:cNvSpPr>
            <a:spLocks noChangeArrowheads="1"/>
          </p:cNvSpPr>
          <p:nvPr/>
        </p:nvSpPr>
        <p:spPr bwMode="auto">
          <a:xfrm>
            <a:off x="220133" y="1033562"/>
            <a:ext cx="85393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Chemical adulteration in fruits poses serious health risks, requiring effective detection methods.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Traditional detection techniques are slow and depend on laboratory facilities.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Sensor-based systems combined with machine learning enable real-time adulteration detection.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Machine learning models analyze sensor data to identify contaminants in fruits.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approach enhances food safety, reduces human effort, and provides a cost-effective solution.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Objective(s</a:t>
            </a:r>
            <a:r>
              <a:rPr lang="en-US"/>
              <a:t>)</a:t>
            </a:r>
            <a:endParaRPr/>
          </a:p>
        </p:txBody>
      </p:sp>
      <p:sp>
        <p:nvSpPr>
          <p:cNvPr id="126" name="Google Shape;1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27" name="Google Shape;1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128" name="Google Shape;1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dirty="0"/>
          </a:p>
        </p:txBody>
      </p:sp>
      <p:sp>
        <p:nvSpPr>
          <p:cNvPr id="2" name="Text Placeholder 1">
            <a:extLst>
              <a:ext uri="{FF2B5EF4-FFF2-40B4-BE49-F238E27FC236}">
                <a16:creationId xmlns:a16="http://schemas.microsoft.com/office/drawing/2014/main" id="{7EE316F4-51A0-3ED4-F130-111DA5492530}"/>
              </a:ext>
            </a:extLst>
          </p:cNvPr>
          <p:cNvSpPr>
            <a:spLocks noGrp="1" noChangeArrowheads="1"/>
          </p:cNvSpPr>
          <p:nvPr>
            <p:ph type="body" idx="1"/>
          </p:nvPr>
        </p:nvSpPr>
        <p:spPr bwMode="auto">
          <a:xfrm>
            <a:off x="594853" y="1259175"/>
            <a:ext cx="8229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Develop a sensor-based system for detecting chemical adulteration in fruits.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Utilize machine learning algorithms to analyze sensor data for accurate identification.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Provide a real-time, non-destructive, and efficient adulteration detection method.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Enhance food safety by minimizing human intervention and laboratory dependency.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Offer a cost-effective and scalable solution for widespread use.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5"/>
          <p:cNvSpPr txBox="1">
            <a:spLocks noGrp="1"/>
          </p:cNvSpPr>
          <p:nvPr>
            <p:ph type="title"/>
          </p:nvPr>
        </p:nvSpPr>
        <p:spPr>
          <a:xfrm>
            <a:off x="3810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latin typeface="Times New Roman"/>
                <a:ea typeface="Times New Roman"/>
                <a:cs typeface="Times New Roman"/>
                <a:sym typeface="Times New Roman"/>
              </a:rPr>
              <a:t>Motivation </a:t>
            </a:r>
            <a:endParaRPr>
              <a:latin typeface="Times New Roman"/>
              <a:ea typeface="Times New Roman"/>
              <a:cs typeface="Times New Roman"/>
              <a:sym typeface="Times New Roman"/>
            </a:endParaRPr>
          </a:p>
        </p:txBody>
      </p:sp>
      <p:sp>
        <p:nvSpPr>
          <p:cNvPr id="143" name="Google Shape;1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44" name="Google Shape;1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145" name="Google Shape;1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
        <p:nvSpPr>
          <p:cNvPr id="2" name="Rectangle 1">
            <a:extLst>
              <a:ext uri="{FF2B5EF4-FFF2-40B4-BE49-F238E27FC236}">
                <a16:creationId xmlns:a16="http://schemas.microsoft.com/office/drawing/2014/main" id="{A0B61509-4FFD-F611-66C6-D4BD4F3B4735}"/>
              </a:ext>
            </a:extLst>
          </p:cNvPr>
          <p:cNvSpPr>
            <a:spLocks noChangeArrowheads="1"/>
          </p:cNvSpPr>
          <p:nvPr/>
        </p:nvSpPr>
        <p:spPr bwMode="auto">
          <a:xfrm>
            <a:off x="293738" y="1259175"/>
            <a:ext cx="8404123"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Increasing health risks due to chemical adulteration in fruits.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Limitations of traditional laboratory-based detection methods.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Need for a real-time, non-destructive, and efficient detection system.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Advancements in sensor technology and machine learning for improved accuracy.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Demand for a cost-effective and scalable solution to ensure food safety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dt" idx="10"/>
          </p:nvPr>
        </p:nvSpPr>
        <p:spPr>
          <a:xfrm>
            <a:off x="533400" y="640080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53" name="Google Shape;15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
        <p:nvSpPr>
          <p:cNvPr id="154" name="Google Shape;154;p6"/>
          <p:cNvSpPr txBox="1">
            <a:spLocks noGrp="1"/>
          </p:cNvSpPr>
          <p:nvPr>
            <p:ph type="title"/>
          </p:nvPr>
        </p:nvSpPr>
        <p:spPr>
          <a:xfrm>
            <a:off x="430794" y="0"/>
            <a:ext cx="8229600" cy="7921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Literature Survey</a:t>
            </a:r>
            <a:endParaRPr/>
          </a:p>
        </p:txBody>
      </p:sp>
      <p:graphicFrame>
        <p:nvGraphicFramePr>
          <p:cNvPr id="155" name="Google Shape;155;p6"/>
          <p:cNvGraphicFramePr/>
          <p:nvPr>
            <p:extLst>
              <p:ext uri="{D42A27DB-BD31-4B8C-83A1-F6EECF244321}">
                <p14:modId xmlns:p14="http://schemas.microsoft.com/office/powerpoint/2010/main" val="985598749"/>
              </p:ext>
            </p:extLst>
          </p:nvPr>
        </p:nvGraphicFramePr>
        <p:xfrm>
          <a:off x="392694" y="914400"/>
          <a:ext cx="8305800" cy="4855370"/>
        </p:xfrm>
        <a:graphic>
          <a:graphicData uri="http://schemas.openxmlformats.org/drawingml/2006/table">
            <a:tbl>
              <a:tblPr firstRow="1" bandRow="1">
                <a:noFill/>
                <a:tableStyleId>{248FC6C2-C216-4D67-AB50-5D9523515CF3}</a:tableStyleId>
              </a:tblPr>
              <a:tblGrid>
                <a:gridCol w="1676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472825">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Author name</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Title of the paper</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Journal name//Year</a:t>
                      </a:r>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Concept</a:t>
                      </a:r>
                      <a:endParaRPr/>
                    </a:p>
                  </a:txBody>
                  <a:tcPr marL="91450" marR="91450" marT="45725" marB="45725"/>
                </a:tc>
                <a:extLst>
                  <a:ext uri="{0D108BD9-81ED-4DB2-BD59-A6C34878D82A}">
                    <a16:rowId xmlns:a16="http://schemas.microsoft.com/office/drawing/2014/main" val="10000"/>
                  </a:ext>
                </a:extLst>
              </a:tr>
              <a:tr h="2264550">
                <a:tc>
                  <a:txBody>
                    <a:bodyPr/>
                    <a:lstStyle/>
                    <a:p>
                      <a:pPr marL="0" marR="0" lvl="0" indent="0" algn="ctr" rtl="0">
                        <a:lnSpc>
                          <a:spcPct val="100000"/>
                        </a:lnSpc>
                        <a:spcBef>
                          <a:spcPts val="0"/>
                        </a:spcBef>
                        <a:spcAft>
                          <a:spcPts val="0"/>
                        </a:spcAft>
                        <a:buClr>
                          <a:srgbClr val="000000"/>
                        </a:buClr>
                        <a:buSzPts val="1440"/>
                        <a:buFont typeface="Arial"/>
                        <a:buNone/>
                      </a:pPr>
                      <a:r>
                        <a:rPr lang="en-IN" dirty="0"/>
                        <a:t>José Luis P. Calle, Marta Barea-Sepúlveda, Ana Ruiz-Rodríguez, José </a:t>
                      </a:r>
                      <a:r>
                        <a:rPr lang="en-IN" dirty="0" err="1"/>
                        <a:t>Ángel</a:t>
                      </a:r>
                      <a:r>
                        <a:rPr lang="en-IN" dirty="0"/>
                        <a:t> Álvarez, Marta Ferreiro-González, Miguel Palma</a:t>
                      </a:r>
                      <a:endParaRPr lang="en-US" sz="14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dirty="0"/>
                    </a:p>
                  </a:txBody>
                  <a:tcPr marL="91450" marR="91450" marT="45725" marB="45725"/>
                </a:tc>
                <a:tc>
                  <a:txBody>
                    <a:bodyPr/>
                    <a:lstStyle/>
                    <a:p>
                      <a:pPr marL="0" marR="0" lvl="0" indent="0" algn="l" rtl="0">
                        <a:spcBef>
                          <a:spcPts val="0"/>
                        </a:spcBef>
                        <a:spcAft>
                          <a:spcPts val="0"/>
                        </a:spcAft>
                        <a:buNone/>
                      </a:pPr>
                      <a:r>
                        <a:rPr lang="en-US" dirty="0"/>
                        <a:t>"Rapid Detection and Quantification of Adulterants in Fruit Juices Using Machine Learning Tools and Spectroscopy Data"</a:t>
                      </a:r>
                      <a:endParaRPr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chemeClr val="dk1"/>
                        </a:buClr>
                        <a:buSzPts val="1400"/>
                        <a:buFont typeface="Times New Roman"/>
                        <a:buNone/>
                        <a:tabLst/>
                        <a:defRPr/>
                      </a:pPr>
                      <a:r>
                        <a:rPr lang="en-IN" dirty="0"/>
                        <a:t>Sensors ,2022</a:t>
                      </a:r>
                      <a:endParaRPr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This study combines machine learning models with near-infrared spectroscopy to detect and quantify adulteration in fruit juices. The methodology achieved high accuracy in identifying adulterated samples and quantifying adulterant levels.</a:t>
                      </a:r>
                      <a:endParaRPr sz="14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1866375">
                <a:tc>
                  <a:txBody>
                    <a:bodyPr/>
                    <a:lstStyle/>
                    <a:p>
                      <a:pPr marL="0" marR="0" lvl="0" indent="0" algn="l" rtl="0">
                        <a:spcBef>
                          <a:spcPts val="0"/>
                        </a:spcBef>
                        <a:spcAft>
                          <a:spcPts val="0"/>
                        </a:spcAft>
                        <a:buNone/>
                      </a:pPr>
                      <a:r>
                        <a:rPr lang="en-IN" dirty="0"/>
                        <a:t>Abdus Sattar, Md Asif Mahmud </a:t>
                      </a:r>
                      <a:r>
                        <a:rPr lang="en-IN" dirty="0" err="1"/>
                        <a:t>Ridoy</a:t>
                      </a:r>
                      <a:r>
                        <a:rPr lang="en-IN" dirty="0"/>
                        <a:t>, et al.</a:t>
                      </a:r>
                      <a:endParaRPr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 Comprehensive Approach to Detecting Chemical Adulteration in Fruits Using Computer Vision, Deep Learning, and Chemical Sensors</a:t>
                      </a:r>
                    </a:p>
                    <a:p>
                      <a:pPr marL="0" marR="0" lvl="0" indent="0" algn="l" rtl="0">
                        <a:spcBef>
                          <a:spcPts val="0"/>
                        </a:spcBef>
                        <a:spcAft>
                          <a:spcPts val="0"/>
                        </a:spcAft>
                        <a:buNone/>
                      </a:pPr>
                      <a:endParaRPr sz="1400"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t>Intelligent Systems with Applications ,2024</a:t>
                      </a:r>
                      <a:endParaRPr dirty="0"/>
                    </a:p>
                  </a:txBody>
                  <a:tcPr marL="91450" marR="91450" marT="45725" marB="45725"/>
                </a:tc>
                <a:tc>
                  <a:txBody>
                    <a:bodyPr/>
                    <a:lstStyle/>
                    <a:p>
                      <a:pPr marL="0" marR="0" lvl="0" indent="0" algn="l" rtl="0">
                        <a:spcBef>
                          <a:spcPts val="0"/>
                        </a:spcBef>
                        <a:spcAft>
                          <a:spcPts val="0"/>
                        </a:spcAft>
                        <a:buNone/>
                      </a:pPr>
                      <a:r>
                        <a:rPr lang="en-US" dirty="0"/>
                        <a:t>This research integrates computer vision, deep learning, and chemical sensors to detect harmful additives in fruits. The proposed hybrid model utilizes formaldehyde detection sensors and image data to identify adulteration with high accuracy.</a:t>
                      </a:r>
                      <a:endParaRPr dirty="0"/>
                    </a:p>
                  </a:txBody>
                  <a:tcPr marL="91450" marR="91450" marT="45725" marB="45725"/>
                </a:tc>
                <a:extLst>
                  <a:ext uri="{0D108BD9-81ED-4DB2-BD59-A6C34878D82A}">
                    <a16:rowId xmlns:a16="http://schemas.microsoft.com/office/drawing/2014/main" val="10002"/>
                  </a:ext>
                </a:extLst>
              </a:tr>
            </a:tbl>
          </a:graphicData>
        </a:graphic>
      </p:graphicFrame>
      <p:sp>
        <p:nvSpPr>
          <p:cNvPr id="156" name="Google Shape;156;p6"/>
          <p:cNvSpPr txBox="1">
            <a:spLocks noGrp="1"/>
          </p:cNvSpPr>
          <p:nvPr>
            <p:ph type="ftr" idx="11"/>
          </p:nvPr>
        </p:nvSpPr>
        <p:spPr>
          <a:xfrm>
            <a:off x="3124200" y="640080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dt" idx="10"/>
          </p:nvPr>
        </p:nvSpPr>
        <p:spPr>
          <a:xfrm>
            <a:off x="533400" y="640080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62" name="Google Shape;16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
        <p:nvSpPr>
          <p:cNvPr id="163" name="Google Shape;163;p7"/>
          <p:cNvSpPr txBox="1">
            <a:spLocks noGrp="1"/>
          </p:cNvSpPr>
          <p:nvPr>
            <p:ph type="title"/>
          </p:nvPr>
        </p:nvSpPr>
        <p:spPr>
          <a:xfrm>
            <a:off x="430794" y="0"/>
            <a:ext cx="8229600" cy="7921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Literature Survey</a:t>
            </a:r>
            <a:endParaRPr/>
          </a:p>
        </p:txBody>
      </p:sp>
      <p:graphicFrame>
        <p:nvGraphicFramePr>
          <p:cNvPr id="164" name="Google Shape;164;p7"/>
          <p:cNvGraphicFramePr/>
          <p:nvPr>
            <p:extLst>
              <p:ext uri="{D42A27DB-BD31-4B8C-83A1-F6EECF244321}">
                <p14:modId xmlns:p14="http://schemas.microsoft.com/office/powerpoint/2010/main" val="2948867620"/>
              </p:ext>
            </p:extLst>
          </p:nvPr>
        </p:nvGraphicFramePr>
        <p:xfrm>
          <a:off x="392694" y="816306"/>
          <a:ext cx="8305800" cy="4710055"/>
        </p:xfrm>
        <a:graphic>
          <a:graphicData uri="http://schemas.openxmlformats.org/drawingml/2006/table">
            <a:tbl>
              <a:tblPr firstRow="1" bandRow="1">
                <a:noFill/>
                <a:tableStyleId>{248FC6C2-C216-4D67-AB50-5D9523515CF3}</a:tableStyleId>
              </a:tblPr>
              <a:tblGrid>
                <a:gridCol w="1676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472825">
                <a:tc>
                  <a:txBody>
                    <a:bodyPr/>
                    <a:lstStyle/>
                    <a:p>
                      <a:pPr marL="0" marR="0" lvl="0" indent="0" algn="ctr" rtl="0">
                        <a:spcBef>
                          <a:spcPts val="0"/>
                        </a:spcBef>
                        <a:spcAft>
                          <a:spcPts val="0"/>
                        </a:spcAft>
                        <a:buNone/>
                      </a:pPr>
                      <a:r>
                        <a:rPr lang="en-US" sz="1600" dirty="0">
                          <a:latin typeface="Times New Roman"/>
                          <a:ea typeface="Times New Roman"/>
                          <a:cs typeface="Times New Roman"/>
                          <a:sym typeface="Times New Roman"/>
                        </a:rPr>
                        <a:t>Author name</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Title of the paper</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Journal name//Year</a:t>
                      </a:r>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Concept</a:t>
                      </a:r>
                      <a:endParaRPr/>
                    </a:p>
                  </a:txBody>
                  <a:tcPr marL="91450" marR="91450" marT="45725" marB="45725"/>
                </a:tc>
                <a:extLst>
                  <a:ext uri="{0D108BD9-81ED-4DB2-BD59-A6C34878D82A}">
                    <a16:rowId xmlns:a16="http://schemas.microsoft.com/office/drawing/2014/main" val="10000"/>
                  </a:ext>
                </a:extLst>
              </a:tr>
              <a:tr h="2264550">
                <a:tc>
                  <a:txBody>
                    <a:bodyPr/>
                    <a:lstStyle/>
                    <a:p>
                      <a:pPr marL="0" marR="0" lvl="0" indent="0" algn="l" rtl="0">
                        <a:spcBef>
                          <a:spcPts val="0"/>
                        </a:spcBef>
                        <a:spcAft>
                          <a:spcPts val="0"/>
                        </a:spcAft>
                        <a:buNone/>
                      </a:pPr>
                      <a:r>
                        <a:rPr lang="en-IN" dirty="0"/>
                        <a:t>Pasha, Sneha, et al.</a:t>
                      </a:r>
                      <a:endParaRPr sz="14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dirty="0"/>
                        <a:t>Detection of Adulteration in Fruits Using Machine Learning</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t>International Journal of Creative Research Thoughts (IJCRT) ,2023</a:t>
                      </a:r>
                      <a:endParaRPr dirty="0"/>
                    </a:p>
                  </a:txBody>
                  <a:tcPr marL="91450" marR="91450" marT="45725" marB="45725"/>
                </a:tc>
                <a:tc>
                  <a:txBody>
                    <a:bodyPr/>
                    <a:lstStyle/>
                    <a:p>
                      <a:pPr marL="0" marR="0" lvl="0" indent="0" algn="l" rtl="0">
                        <a:spcBef>
                          <a:spcPts val="0"/>
                        </a:spcBef>
                        <a:spcAft>
                          <a:spcPts val="0"/>
                        </a:spcAft>
                        <a:buNone/>
                      </a:pPr>
                      <a:r>
                        <a:rPr lang="en-US" dirty="0"/>
                        <a:t>This paper presents a machine learning-based technique to detect formalin adulteration in fruits. The system employs supervised learning algorithms to predict formalin concentration and distinguish between artificially added and naturally occurring formalin.</a:t>
                      </a:r>
                      <a:endParaRPr dirty="0"/>
                    </a:p>
                  </a:txBody>
                  <a:tcPr marL="91450" marR="91450" marT="45725" marB="45725"/>
                </a:tc>
                <a:extLst>
                  <a:ext uri="{0D108BD9-81ED-4DB2-BD59-A6C34878D82A}">
                    <a16:rowId xmlns:a16="http://schemas.microsoft.com/office/drawing/2014/main" val="10001"/>
                  </a:ext>
                </a:extLst>
              </a:tr>
              <a:tr h="1866375">
                <a:tc>
                  <a:txBody>
                    <a:bodyPr/>
                    <a:lstStyle/>
                    <a:p>
                      <a:pPr marL="0" marR="0" lvl="0" indent="0" algn="l" rtl="0">
                        <a:spcBef>
                          <a:spcPts val="0"/>
                        </a:spcBef>
                        <a:spcAft>
                          <a:spcPts val="0"/>
                        </a:spcAft>
                        <a:buNone/>
                      </a:pPr>
                      <a:r>
                        <a:rPr lang="nl-NL" dirty="0"/>
                        <a:t>Kashish Goyal, Parteek Kumar, Karun Verma</a:t>
                      </a:r>
                      <a:endParaRPr dirty="0"/>
                    </a:p>
                  </a:txBody>
                  <a:tcPr marL="91450" marR="91450" marT="45725" marB="45725"/>
                </a:tc>
                <a:tc>
                  <a:txBody>
                    <a:bodyPr/>
                    <a:lstStyle/>
                    <a:p>
                      <a:pPr marL="0" marR="0" lvl="0" indent="0" algn="l" rtl="0">
                        <a:spcBef>
                          <a:spcPts val="0"/>
                        </a:spcBef>
                        <a:spcAft>
                          <a:spcPts val="0"/>
                        </a:spcAft>
                        <a:buNone/>
                      </a:pPr>
                      <a:r>
                        <a:rPr lang="en-US" dirty="0"/>
                        <a:t>Food Adulteration Detection Using Artificial Intelligence: A Systematic Review</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t>Archives of Computational Methods in Engineering, 2021</a:t>
                      </a:r>
                      <a:endParaRPr dirty="0"/>
                    </a:p>
                  </a:txBody>
                  <a:tcPr marL="91450" marR="91450" marT="45725" marB="45725"/>
                </a:tc>
                <a:tc>
                  <a:txBody>
                    <a:bodyPr/>
                    <a:lstStyle/>
                    <a:p>
                      <a:pPr marL="0" marR="0" lvl="0" indent="0" algn="l" rtl="0">
                        <a:spcBef>
                          <a:spcPts val="0"/>
                        </a:spcBef>
                        <a:spcAft>
                          <a:spcPts val="0"/>
                        </a:spcAft>
                        <a:buNone/>
                      </a:pPr>
                      <a:r>
                        <a:rPr lang="en-US" dirty="0"/>
                        <a:t>This systematic review explores the role of artificial intelligence in detecting food adulteration, highlighting various machine learning and deep learning applications in ensuring food quality and safety.</a:t>
                      </a:r>
                      <a:endParaRPr dirty="0"/>
                    </a:p>
                  </a:txBody>
                  <a:tcPr marL="91450" marR="91450" marT="45725" marB="45725"/>
                </a:tc>
                <a:extLst>
                  <a:ext uri="{0D108BD9-81ED-4DB2-BD59-A6C34878D82A}">
                    <a16:rowId xmlns:a16="http://schemas.microsoft.com/office/drawing/2014/main" val="10002"/>
                  </a:ext>
                </a:extLst>
              </a:tr>
            </a:tbl>
          </a:graphicData>
        </a:graphic>
      </p:graphicFrame>
      <p:sp>
        <p:nvSpPr>
          <p:cNvPr id="165" name="Google Shape;16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
          <p:cNvSpPr txBox="1">
            <a:spLocks noGrp="1"/>
          </p:cNvSpPr>
          <p:nvPr>
            <p:ph type="dt" idx="10"/>
          </p:nvPr>
        </p:nvSpPr>
        <p:spPr>
          <a:xfrm>
            <a:off x="533400" y="640080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71" name="Google Shape;17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
        <p:nvSpPr>
          <p:cNvPr id="172" name="Google Shape;172;p8"/>
          <p:cNvSpPr txBox="1">
            <a:spLocks noGrp="1"/>
          </p:cNvSpPr>
          <p:nvPr>
            <p:ph type="title"/>
          </p:nvPr>
        </p:nvSpPr>
        <p:spPr>
          <a:xfrm>
            <a:off x="430794" y="0"/>
            <a:ext cx="8229600" cy="7921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Literature Survey</a:t>
            </a:r>
            <a:endParaRPr/>
          </a:p>
        </p:txBody>
      </p:sp>
      <p:graphicFrame>
        <p:nvGraphicFramePr>
          <p:cNvPr id="173" name="Google Shape;173;p8"/>
          <p:cNvGraphicFramePr/>
          <p:nvPr>
            <p:extLst>
              <p:ext uri="{D42A27DB-BD31-4B8C-83A1-F6EECF244321}">
                <p14:modId xmlns:p14="http://schemas.microsoft.com/office/powerpoint/2010/main" val="3473182076"/>
              </p:ext>
            </p:extLst>
          </p:nvPr>
        </p:nvGraphicFramePr>
        <p:xfrm>
          <a:off x="392694" y="816306"/>
          <a:ext cx="8305800" cy="5029230"/>
        </p:xfrm>
        <a:graphic>
          <a:graphicData uri="http://schemas.openxmlformats.org/drawingml/2006/table">
            <a:tbl>
              <a:tblPr firstRow="1" bandRow="1">
                <a:noFill/>
                <a:tableStyleId>{248FC6C2-C216-4D67-AB50-5D9523515CF3}</a:tableStyleId>
              </a:tblPr>
              <a:tblGrid>
                <a:gridCol w="1676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472825">
                <a:tc>
                  <a:txBody>
                    <a:bodyPr/>
                    <a:lstStyle/>
                    <a:p>
                      <a:pPr marL="0" marR="0" lvl="0" indent="0" algn="ctr" rtl="0">
                        <a:spcBef>
                          <a:spcPts val="0"/>
                        </a:spcBef>
                        <a:spcAft>
                          <a:spcPts val="0"/>
                        </a:spcAft>
                        <a:buNone/>
                      </a:pPr>
                      <a:r>
                        <a:rPr lang="en-US" sz="1600" dirty="0">
                          <a:latin typeface="Times New Roman"/>
                          <a:ea typeface="Times New Roman"/>
                          <a:cs typeface="Times New Roman"/>
                          <a:sym typeface="Times New Roman"/>
                        </a:rPr>
                        <a:t>Author name</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Title of the paper</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Journal name//Year</a:t>
                      </a:r>
                      <a:endParaRPr/>
                    </a:p>
                  </a:txBody>
                  <a:tcPr marL="91450" marR="91450" marT="45725" marB="45725"/>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Concept</a:t>
                      </a:r>
                      <a:endParaRPr/>
                    </a:p>
                  </a:txBody>
                  <a:tcPr marL="91450" marR="91450" marT="45725" marB="45725"/>
                </a:tc>
                <a:extLst>
                  <a:ext uri="{0D108BD9-81ED-4DB2-BD59-A6C34878D82A}">
                    <a16:rowId xmlns:a16="http://schemas.microsoft.com/office/drawing/2014/main" val="10000"/>
                  </a:ext>
                </a:extLst>
              </a:tr>
              <a:tr h="2264550">
                <a:tc>
                  <a:txBody>
                    <a:bodyPr/>
                    <a:lstStyle/>
                    <a:p>
                      <a:pPr marL="0" marR="0" lvl="0" indent="0" algn="l" rtl="0">
                        <a:spcBef>
                          <a:spcPts val="0"/>
                        </a:spcBef>
                        <a:spcAft>
                          <a:spcPts val="0"/>
                        </a:spcAft>
                        <a:buNone/>
                      </a:pPr>
                      <a:r>
                        <a:rPr lang="it-IT" dirty="0"/>
                        <a:t>Siyu Liu, Shiming Li, Chitang Ho</a:t>
                      </a:r>
                      <a:endParaRPr sz="14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dirty="0"/>
                        <a:t>Detection of Adulteration in Fruits Using Machine Learning</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IN" dirty="0">
                          <a:hlinkClick r:id="rId3"/>
                        </a:rPr>
                        <a:t>ResearchGate</a:t>
                      </a:r>
                      <a:r>
                        <a:rPr lang="en-IN" dirty="0"/>
                        <a:t> ,2021</a:t>
                      </a:r>
                      <a:endParaRPr dirty="0"/>
                    </a:p>
                  </a:txBody>
                  <a:tcPr marL="91450" marR="91450" marT="45725" marB="45725"/>
                </a:tc>
                <a:tc>
                  <a:txBody>
                    <a:bodyPr/>
                    <a:lstStyle/>
                    <a:p>
                      <a:pPr marL="0" marR="0" lvl="0" indent="0" algn="l" rtl="0">
                        <a:spcBef>
                          <a:spcPts val="0"/>
                        </a:spcBef>
                        <a:spcAft>
                          <a:spcPts val="0"/>
                        </a:spcAft>
                        <a:buNone/>
                      </a:pPr>
                      <a:r>
                        <a:rPr lang="en-US" dirty="0"/>
                        <a:t>This research develops a machine-learning-based food and formalin detection technique utilizing the Internet of Things. By applying algorithms such as logistic regression, support vector machines, and K-NN classifiers to the experimental dataset, the system tracks artificially added formalin used as a preservative.</a:t>
                      </a:r>
                      <a:endParaRPr dirty="0"/>
                    </a:p>
                  </a:txBody>
                  <a:tcPr marL="91450" marR="91450" marT="45725" marB="45725"/>
                </a:tc>
                <a:extLst>
                  <a:ext uri="{0D108BD9-81ED-4DB2-BD59-A6C34878D82A}">
                    <a16:rowId xmlns:a16="http://schemas.microsoft.com/office/drawing/2014/main" val="10001"/>
                  </a:ext>
                </a:extLst>
              </a:tr>
              <a:tr h="1866375">
                <a:tc>
                  <a:txBody>
                    <a:bodyPr/>
                    <a:lstStyle/>
                    <a:p>
                      <a:pPr marL="0" marR="0" lvl="0" indent="0" algn="l" rtl="0">
                        <a:spcBef>
                          <a:spcPts val="0"/>
                        </a:spcBef>
                        <a:spcAft>
                          <a:spcPts val="0"/>
                        </a:spcAft>
                        <a:buNone/>
                      </a:pPr>
                      <a:r>
                        <a:rPr lang="en-IN" dirty="0"/>
                        <a:t>Pasha, Sneha, et al.</a:t>
                      </a:r>
                      <a:endParaRPr dirty="0"/>
                    </a:p>
                  </a:txBody>
                  <a:tcPr marL="91450" marR="91450" marT="45725" marB="45725"/>
                </a:tc>
                <a:tc>
                  <a:txBody>
                    <a:bodyPr/>
                    <a:lstStyle/>
                    <a:p>
                      <a:pPr marL="0" marR="0" lvl="0" indent="0" algn="l" rtl="0">
                        <a:spcBef>
                          <a:spcPts val="0"/>
                        </a:spcBef>
                        <a:spcAft>
                          <a:spcPts val="0"/>
                        </a:spcAft>
                        <a:buNone/>
                      </a:pPr>
                      <a:r>
                        <a:rPr lang="en-US" dirty="0"/>
                        <a:t>Detection of Adulteration in Fruits Using Machine Learning</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hlinkClick r:id="rId4"/>
                        </a:rPr>
                        <a:t>International Journal of Creative Research Thoughts (IJCRT)</a:t>
                      </a:r>
                      <a:br>
                        <a:rPr lang="en-US" dirty="0"/>
                      </a:br>
                      <a:r>
                        <a:rPr lang="en-US" b="1" dirty="0"/>
                        <a:t>Year</a:t>
                      </a:r>
                      <a:r>
                        <a:rPr lang="en-US" dirty="0"/>
                        <a:t>: 2023</a:t>
                      </a:r>
                      <a:endParaRPr dirty="0"/>
                    </a:p>
                  </a:txBody>
                  <a:tcPr marL="91450" marR="91450" marT="45725" marB="45725"/>
                </a:tc>
                <a:tc>
                  <a:txBody>
                    <a:bodyPr/>
                    <a:lstStyle/>
                    <a:p>
                      <a:pPr marL="0" marR="0" lvl="0" indent="0" algn="l" rtl="0">
                        <a:spcBef>
                          <a:spcPts val="0"/>
                        </a:spcBef>
                        <a:spcAft>
                          <a:spcPts val="0"/>
                        </a:spcAft>
                        <a:buNone/>
                      </a:pPr>
                      <a:r>
                        <a:rPr lang="en-US" dirty="0"/>
                        <a:t>This paper presents a machine learning-based technique to detect formalin adulteration in fruits. The system employs supervised learning algorithms to predict formalin concentration and distinguish between artificially added and naturally occurring formalin.</a:t>
                      </a:r>
                      <a:endParaRPr dirty="0"/>
                    </a:p>
                  </a:txBody>
                  <a:tcPr marL="91450" marR="91450" marT="45725" marB="45725"/>
                </a:tc>
                <a:extLst>
                  <a:ext uri="{0D108BD9-81ED-4DB2-BD59-A6C34878D82A}">
                    <a16:rowId xmlns:a16="http://schemas.microsoft.com/office/drawing/2014/main" val="10002"/>
                  </a:ext>
                </a:extLst>
              </a:tr>
            </a:tbl>
          </a:graphicData>
        </a:graphic>
      </p:graphicFrame>
      <p:sp>
        <p:nvSpPr>
          <p:cNvPr id="174" name="Google Shape;174;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a:spLocks noGrp="1"/>
          </p:cNvSpPr>
          <p:nvPr>
            <p:ph type="dt" idx="10"/>
          </p:nvPr>
        </p:nvSpPr>
        <p:spPr>
          <a:xfrm>
            <a:off x="533400" y="640080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80" name="Google Shape;18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
        <p:nvSpPr>
          <p:cNvPr id="181" name="Google Shape;181;p9"/>
          <p:cNvSpPr txBox="1">
            <a:spLocks noGrp="1"/>
          </p:cNvSpPr>
          <p:nvPr>
            <p:ph type="title"/>
          </p:nvPr>
        </p:nvSpPr>
        <p:spPr>
          <a:xfrm>
            <a:off x="433435" y="0"/>
            <a:ext cx="8229600" cy="7921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Issues in Existing system</a:t>
            </a:r>
            <a:endParaRPr/>
          </a:p>
        </p:txBody>
      </p:sp>
      <p:sp>
        <p:nvSpPr>
          <p:cNvPr id="183" name="Google Shape;18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 name="Text Placeholder 1">
            <a:extLst>
              <a:ext uri="{FF2B5EF4-FFF2-40B4-BE49-F238E27FC236}">
                <a16:creationId xmlns:a16="http://schemas.microsoft.com/office/drawing/2014/main" id="{A91EB664-22B6-4231-C16F-D92EFC210AE7}"/>
              </a:ext>
            </a:extLst>
          </p:cNvPr>
          <p:cNvSpPr>
            <a:spLocks noGrp="1" noChangeArrowheads="1"/>
          </p:cNvSpPr>
          <p:nvPr>
            <p:ph type="body" idx="1"/>
          </p:nvPr>
        </p:nvSpPr>
        <p:spPr bwMode="auto">
          <a:xfrm>
            <a:off x="433435" y="792163"/>
            <a:ext cx="8229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Traditional laboratory-based detection methods require significant time for sample collection, testing, and analysis.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Chemical analysis and lab equipment are expensive, making large-scale testing impractical.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Most existing methods require specialized laboratory settings, limiting real-time detection capabilities.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Farmers and consumers lack easy access to adulteration detection tools. </a:t>
            </a:r>
          </a:p>
          <a:p>
            <a:pPr marL="34290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Manual and chemical-based tests may have inconsistencies and errors in detecting low levels of adulteration.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457200" y="-6019"/>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Proposed System</a:t>
            </a:r>
            <a:endParaRPr/>
          </a:p>
        </p:txBody>
      </p:sp>
      <p:sp>
        <p:nvSpPr>
          <p:cNvPr id="190" name="Google Shape;19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91" name="Google Shape;19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192" name="Google Shape;19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
        <p:nvSpPr>
          <p:cNvPr id="2" name="Text Placeholder 1">
            <a:extLst>
              <a:ext uri="{FF2B5EF4-FFF2-40B4-BE49-F238E27FC236}">
                <a16:creationId xmlns:a16="http://schemas.microsoft.com/office/drawing/2014/main" id="{1573892B-C71F-959B-B3BC-90A0B259514D}"/>
              </a:ext>
            </a:extLst>
          </p:cNvPr>
          <p:cNvSpPr>
            <a:spLocks noGrp="1" noChangeArrowheads="1"/>
          </p:cNvSpPr>
          <p:nvPr>
            <p:ph type="body" idx="1"/>
          </p:nvPr>
        </p:nvSpPr>
        <p:spPr bwMode="auto">
          <a:xfrm>
            <a:off x="450850" y="1232982"/>
            <a:ext cx="823595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Utilizes sensor technology to detect chemical adulteration in fruits in real time. </a:t>
            </a:r>
          </a:p>
          <a:p>
            <a:pPr marL="285750" indent="-28575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Integrates machine learning algorithms for accurate and automated adulteration identification. </a:t>
            </a:r>
          </a:p>
          <a:p>
            <a:pPr marL="285750" indent="-28575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Provides a portable, cost-effective, and user-friendly solution for farmers and consumers. </a:t>
            </a:r>
          </a:p>
          <a:p>
            <a:pPr marL="285750" indent="-28575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Enables rapid and non-destructive testing without the need for laboratory facilities. </a:t>
            </a:r>
          </a:p>
          <a:p>
            <a:pPr marL="285750" indent="-285750" algn="just"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Enhances food safety by offering a scalable and efficient detection system.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198" name="Google Shape;19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
        <p:nvSpPr>
          <p:cNvPr id="199" name="Google Shape;199;p11"/>
          <p:cNvSpPr txBox="1">
            <a:spLocks noGrp="1"/>
          </p:cNvSpPr>
          <p:nvPr>
            <p:ph type="title"/>
          </p:nvPr>
        </p:nvSpPr>
        <p:spPr>
          <a:xfrm>
            <a:off x="481343" y="15089"/>
            <a:ext cx="82296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800">
                <a:latin typeface="Arial"/>
                <a:ea typeface="Arial"/>
                <a:cs typeface="Arial"/>
                <a:sym typeface="Arial"/>
              </a:rPr>
              <a:t> </a:t>
            </a:r>
            <a:r>
              <a:rPr lang="en-US">
                <a:latin typeface="Times New Roman"/>
                <a:ea typeface="Times New Roman"/>
                <a:cs typeface="Times New Roman"/>
                <a:sym typeface="Times New Roman"/>
              </a:rPr>
              <a:t>Architecture Diagram</a:t>
            </a:r>
            <a:endParaRPr/>
          </a:p>
        </p:txBody>
      </p:sp>
      <p:sp>
        <p:nvSpPr>
          <p:cNvPr id="200" name="Google Shape;200;p1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888888"/>
                </a:solidFill>
                <a:latin typeface="Calibri"/>
                <a:ea typeface="Calibri"/>
                <a:cs typeface="Calibri"/>
                <a:sym typeface="Calibri"/>
              </a:rPr>
              <a:pPr marL="0" marR="0" lvl="0" indent="0" algn="r" rtl="0">
                <a:spcBef>
                  <a:spcPts val="0"/>
                </a:spcBef>
                <a:spcAft>
                  <a:spcPts val="0"/>
                </a:spcAft>
                <a:buNone/>
              </a:pPr>
              <a:t>10</a:t>
            </a:fld>
            <a:endParaRPr sz="1200">
              <a:solidFill>
                <a:srgbClr val="888888"/>
              </a:solidFill>
              <a:latin typeface="Calibri"/>
              <a:ea typeface="Calibri"/>
              <a:cs typeface="Calibri"/>
              <a:sym typeface="Calibri"/>
            </a:endParaRPr>
          </a:p>
        </p:txBody>
      </p:sp>
      <p:sp>
        <p:nvSpPr>
          <p:cNvPr id="201" name="Google Shape;201;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pic>
        <p:nvPicPr>
          <p:cNvPr id="2" name="image1.jpeg">
            <a:extLst>
              <a:ext uri="{FF2B5EF4-FFF2-40B4-BE49-F238E27FC236}">
                <a16:creationId xmlns:a16="http://schemas.microsoft.com/office/drawing/2014/main" id="{B41AE509-E577-B848-12A3-AB14F4385352}"/>
              </a:ext>
            </a:extLst>
          </p:cNvPr>
          <p:cNvPicPr>
            <a:picLocks noChangeAspect="1"/>
          </p:cNvPicPr>
          <p:nvPr/>
        </p:nvPicPr>
        <p:blipFill>
          <a:blip r:embed="rId3" cstate="print"/>
          <a:stretch>
            <a:fillRect/>
          </a:stretch>
        </p:blipFill>
        <p:spPr>
          <a:xfrm>
            <a:off x="1905000" y="1295400"/>
            <a:ext cx="5334000" cy="42671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2"/>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List of modules</a:t>
            </a:r>
            <a:endParaRPr>
              <a:latin typeface="Times New Roman"/>
              <a:ea typeface="Times New Roman"/>
              <a:cs typeface="Times New Roman"/>
              <a:sym typeface="Times New Roman"/>
            </a:endParaRPr>
          </a:p>
        </p:txBody>
      </p:sp>
      <p:sp>
        <p:nvSpPr>
          <p:cNvPr id="209" name="Google Shape;209;p12"/>
          <p:cNvSpPr txBox="1">
            <a:spLocks noGrp="1"/>
          </p:cNvSpPr>
          <p:nvPr>
            <p:ph type="dt" idx="10"/>
          </p:nvPr>
        </p:nvSpPr>
        <p:spPr>
          <a:xfrm>
            <a:off x="457199" y="6356349"/>
            <a:ext cx="5368565" cy="365125"/>
          </a:xfrm>
          <a:prstGeom prst="rect">
            <a:avLst/>
          </a:prstGeom>
          <a:noFill/>
          <a:ln>
            <a:noFill/>
          </a:ln>
        </p:spPr>
        <p:txBody>
          <a:bodyPr spcFirstLastPara="1" wrap="square" lIns="91425" tIns="45700" rIns="91425" bIns="45700" anchor="ctr" anchorCtr="0">
            <a:noAutofit/>
          </a:bodyPr>
          <a:lstStyle/>
          <a:p>
            <a:endParaRPr lang="en-US" dirty="0"/>
          </a:p>
          <a:p>
            <a:r>
              <a:rPr lang="en-US" dirty="0"/>
              <a:t>24/03/2025</a:t>
            </a:r>
          </a:p>
          <a:p>
            <a:endParaRPr lang="en-US" dirty="0"/>
          </a:p>
        </p:txBody>
      </p:sp>
      <p:sp>
        <p:nvSpPr>
          <p:cNvPr id="210" name="Google Shape;210;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11" name="Google Shape;211;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sp>
        <p:nvSpPr>
          <p:cNvPr id="2" name="Text Placeholder 1">
            <a:extLst>
              <a:ext uri="{FF2B5EF4-FFF2-40B4-BE49-F238E27FC236}">
                <a16:creationId xmlns:a16="http://schemas.microsoft.com/office/drawing/2014/main" id="{E67567CF-1CA5-E12D-4630-17ADBF2DFF22}"/>
              </a:ext>
            </a:extLst>
          </p:cNvPr>
          <p:cNvSpPr>
            <a:spLocks noGrp="1" noChangeArrowheads="1"/>
          </p:cNvSpPr>
          <p:nvPr>
            <p:ph type="body" idx="1"/>
          </p:nvPr>
        </p:nvSpPr>
        <p:spPr bwMode="auto">
          <a:xfrm>
            <a:off x="457200" y="1462206"/>
            <a:ext cx="82296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indent="-285750" algn="just" eaLnBrk="0" fontAlgn="base" hangingPunct="0">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Data collection module</a:t>
            </a:r>
            <a:r>
              <a:rPr kumimoji="0" lang="en-US" altLang="en-US" sz="2400" b="0" i="0" u="none" strike="noStrike" cap="none" normalizeH="0" baseline="0" dirty="0">
                <a:ln>
                  <a:noFill/>
                </a:ln>
                <a:solidFill>
                  <a:schemeClr val="tx1"/>
                </a:solidFill>
                <a:effectLst/>
                <a:latin typeface="Arial" panose="020B0604020202020204" pitchFamily="34" charset="0"/>
              </a:rPr>
              <a:t> – Gathers sensor data from fruit samples, including chemical composition and physical properties. </a:t>
            </a:r>
          </a:p>
          <a:p>
            <a:pPr marL="285750" indent="-285750" algn="just" eaLnBrk="0" fontAlgn="base" hangingPunct="0">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Preprocessing module</a:t>
            </a:r>
            <a:r>
              <a:rPr kumimoji="0" lang="en-US" altLang="en-US" sz="2400" b="0" i="0" u="none" strike="noStrike" cap="none" normalizeH="0" baseline="0" dirty="0">
                <a:ln>
                  <a:noFill/>
                </a:ln>
                <a:solidFill>
                  <a:schemeClr val="tx1"/>
                </a:solidFill>
                <a:effectLst/>
                <a:latin typeface="Arial" panose="020B0604020202020204" pitchFamily="34" charset="0"/>
              </a:rPr>
              <a:t> – Cleans, normalizes, and prepares sensor data for analysis. </a:t>
            </a:r>
          </a:p>
          <a:p>
            <a:pPr marL="285750" indent="-285750" algn="just" eaLnBrk="0" fontAlgn="base" hangingPunct="0">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Feature extraction module</a:t>
            </a:r>
            <a:r>
              <a:rPr kumimoji="0" lang="en-US" altLang="en-US" sz="2400" b="0" i="0" u="none" strike="noStrike" cap="none" normalizeH="0" baseline="0" dirty="0">
                <a:ln>
                  <a:noFill/>
                </a:ln>
                <a:solidFill>
                  <a:schemeClr val="tx1"/>
                </a:solidFill>
                <a:effectLst/>
                <a:latin typeface="Arial" panose="020B0604020202020204" pitchFamily="34" charset="0"/>
              </a:rPr>
              <a:t> – Identifies relevant attributes for machine learning classification.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457200" y="15089"/>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latin typeface="Times New Roman"/>
                <a:ea typeface="Times New Roman"/>
                <a:cs typeface="Times New Roman"/>
                <a:sym typeface="Times New Roman"/>
              </a:rPr>
              <a:t>Module 1- </a:t>
            </a:r>
            <a:r>
              <a:rPr kumimoji="0" lang="en-US" altLang="en-US" sz="4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module </a:t>
            </a:r>
            <a:endParaRPr dirty="0">
              <a:latin typeface="Times New Roman" panose="02020603050405020304" pitchFamily="18" charset="0"/>
              <a:cs typeface="Times New Roman" panose="02020603050405020304" pitchFamily="18" charset="0"/>
            </a:endParaRPr>
          </a:p>
        </p:txBody>
      </p:sp>
      <p:sp>
        <p:nvSpPr>
          <p:cNvPr id="217" name="Google Shape;21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218" name="Google Shape;21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19" name="Google Shape;21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12</a:t>
            </a:fld>
            <a:endParaRPr/>
          </a:p>
        </p:txBody>
      </p:sp>
      <p:sp>
        <p:nvSpPr>
          <p:cNvPr id="220" name="Google Shape;220;p13"/>
          <p:cNvSpPr txBox="1"/>
          <p:nvPr/>
        </p:nvSpPr>
        <p:spPr>
          <a:xfrm>
            <a:off x="457200" y="1600200"/>
            <a:ext cx="8229600" cy="43434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1600"/>
            </a:pPr>
            <a:endParaRPr/>
          </a:p>
        </p:txBody>
      </p:sp>
      <p:sp>
        <p:nvSpPr>
          <p:cNvPr id="2" name="Rectangle 1">
            <a:extLst>
              <a:ext uri="{FF2B5EF4-FFF2-40B4-BE49-F238E27FC236}">
                <a16:creationId xmlns:a16="http://schemas.microsoft.com/office/drawing/2014/main" id="{262D594B-1E8B-A46F-4A25-D9D603710598}"/>
              </a:ext>
            </a:extLst>
          </p:cNvPr>
          <p:cNvSpPr>
            <a:spLocks noChangeArrowheads="1"/>
          </p:cNvSpPr>
          <p:nvPr/>
        </p:nvSpPr>
        <p:spPr bwMode="auto">
          <a:xfrm rot="10800000" flipV="1">
            <a:off x="371167" y="1234619"/>
            <a:ext cx="840166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Sensor integration</a:t>
            </a:r>
            <a:r>
              <a:rPr kumimoji="0" lang="en-US" altLang="en-US" sz="2400" b="0" i="0" u="none" strike="noStrike" cap="none" normalizeH="0" baseline="0" dirty="0">
                <a:ln>
                  <a:noFill/>
                </a:ln>
                <a:solidFill>
                  <a:schemeClr val="tx1"/>
                </a:solidFill>
                <a:effectLst/>
                <a:latin typeface="Arial" panose="020B0604020202020204" pitchFamily="34" charset="0"/>
              </a:rPr>
              <a:t> – Connects chemical and physical sensors to capture data from fruit samples.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Real-time data acquisition</a:t>
            </a:r>
            <a:r>
              <a:rPr kumimoji="0" lang="en-US" altLang="en-US" sz="2400" b="0" i="0" u="none" strike="noStrike" cap="none" normalizeH="0" baseline="0" dirty="0">
                <a:ln>
                  <a:noFill/>
                </a:ln>
                <a:solidFill>
                  <a:schemeClr val="tx1"/>
                </a:solidFill>
                <a:effectLst/>
                <a:latin typeface="Arial" panose="020B0604020202020204" pitchFamily="34" charset="0"/>
              </a:rPr>
              <a:t> – Continuously collects data on chemical properties, including pH, formalin levels, and pesticide residues.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Multi-sensor fusion</a:t>
            </a:r>
            <a:r>
              <a:rPr kumimoji="0" lang="en-US" altLang="en-US" sz="2400" b="0" i="0" u="none" strike="noStrike" cap="none" normalizeH="0" baseline="0" dirty="0">
                <a:ln>
                  <a:noFill/>
                </a:ln>
                <a:solidFill>
                  <a:schemeClr val="tx1"/>
                </a:solidFill>
                <a:effectLst/>
                <a:latin typeface="Arial" panose="020B0604020202020204" pitchFamily="34" charset="0"/>
              </a:rPr>
              <a:t> – Combines readings from multiple sensors for improved accuracy.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logging</a:t>
            </a:r>
            <a:r>
              <a:rPr kumimoji="0" lang="en-US" altLang="en-US" sz="2400" b="0" i="0" u="none" strike="noStrike" cap="none" normalizeH="0" baseline="0" dirty="0">
                <a:ln>
                  <a:noFill/>
                </a:ln>
                <a:solidFill>
                  <a:schemeClr val="tx1"/>
                </a:solidFill>
                <a:effectLst/>
                <a:latin typeface="Arial" panose="020B0604020202020204" pitchFamily="34" charset="0"/>
              </a:rPr>
              <a:t> – Stores raw sensor data for further processing and machine learning analysis.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Wireless communication</a:t>
            </a:r>
            <a:r>
              <a:rPr kumimoji="0" lang="en-US" altLang="en-US" sz="2400" b="0" i="0" u="none" strike="noStrike" cap="none" normalizeH="0" baseline="0" dirty="0">
                <a:ln>
                  <a:noFill/>
                </a:ln>
                <a:solidFill>
                  <a:schemeClr val="tx1"/>
                </a:solidFill>
                <a:effectLst/>
                <a:latin typeface="Arial" panose="020B0604020202020204" pitchFamily="34" charset="0"/>
              </a:rPr>
              <a:t> – Transfers collected data to a central processing system for real-time detection.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4"/>
          <p:cNvSpPr txBox="1">
            <a:spLocks noGrp="1"/>
          </p:cNvSpPr>
          <p:nvPr>
            <p:ph type="title"/>
          </p:nvPr>
        </p:nvSpPr>
        <p:spPr>
          <a:xfrm>
            <a:off x="342900" y="0"/>
            <a:ext cx="8458200" cy="1401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Functional Architecture of Module 1</a:t>
            </a:r>
            <a:endParaRPr/>
          </a:p>
        </p:txBody>
      </p:sp>
      <p:sp>
        <p:nvSpPr>
          <p:cNvPr id="226" name="Google Shape;22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227" name="Google Shape;22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28" name="Google Shape;22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a:p>
        </p:txBody>
      </p:sp>
      <p:pic>
        <p:nvPicPr>
          <p:cNvPr id="2" name="Picture 1">
            <a:extLst>
              <a:ext uri="{FF2B5EF4-FFF2-40B4-BE49-F238E27FC236}">
                <a16:creationId xmlns:a16="http://schemas.microsoft.com/office/drawing/2014/main" id="{7B3401C6-D074-6EB4-635E-289426E42EF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bwMode="auto">
          <a:xfrm>
            <a:off x="766916" y="1196770"/>
            <a:ext cx="7423355" cy="4054732"/>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9"/>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Algorithm Used</a:t>
            </a:r>
            <a:endParaRPr/>
          </a:p>
        </p:txBody>
      </p:sp>
      <p:sp>
        <p:nvSpPr>
          <p:cNvPr id="272" name="Google Shape;27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273" name="Google Shape;27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74" name="Google Shape;27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
        <p:nvSpPr>
          <p:cNvPr id="2" name="Rectangle 1">
            <a:extLst>
              <a:ext uri="{FF2B5EF4-FFF2-40B4-BE49-F238E27FC236}">
                <a16:creationId xmlns:a16="http://schemas.microsoft.com/office/drawing/2014/main" id="{67C1FA78-D973-3C3C-A0BC-10BA8C6195CA}"/>
              </a:ext>
            </a:extLst>
          </p:cNvPr>
          <p:cNvSpPr>
            <a:spLocks noChangeArrowheads="1"/>
          </p:cNvSpPr>
          <p:nvPr/>
        </p:nvSpPr>
        <p:spPr bwMode="auto">
          <a:xfrm rot="10800000" flipV="1">
            <a:off x="324465" y="898066"/>
            <a:ext cx="849507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Support Vector Machine (SVM)</a:t>
            </a:r>
            <a:r>
              <a:rPr kumimoji="0" lang="en-US" altLang="en-US" sz="2400" b="0" i="0" u="none" strike="noStrike" cap="none" normalizeH="0" baseline="0" dirty="0">
                <a:ln>
                  <a:noFill/>
                </a:ln>
                <a:solidFill>
                  <a:schemeClr val="tx1"/>
                </a:solidFill>
                <a:effectLst/>
                <a:latin typeface="Arial" panose="020B0604020202020204" pitchFamily="34" charset="0"/>
              </a:rPr>
              <a:t> – Classifies adulterated and non-adulterated samples based on sensor data patterns.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chemeClr val="tx1"/>
                </a:solidFill>
                <a:effectLst/>
                <a:latin typeface="Arial" panose="020B0604020202020204" pitchFamily="34" charset="0"/>
              </a:rPr>
              <a:t>Random Forest</a:t>
            </a:r>
            <a:r>
              <a:rPr kumimoji="0" lang="en-US" altLang="en-US" sz="2400" b="0" i="0" u="none" strike="noStrike" cap="none" normalizeH="0" baseline="0" dirty="0">
                <a:ln>
                  <a:noFill/>
                </a:ln>
                <a:solidFill>
                  <a:schemeClr val="tx1"/>
                </a:solidFill>
                <a:effectLst/>
                <a:latin typeface="Arial" panose="020B0604020202020204" pitchFamily="34" charset="0"/>
              </a:rPr>
              <a:t> – Uses multiple decision trees to improve accuracy in detecting adulteration. </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Arial" panose="020B0604020202020204" pitchFamily="34" charset="0"/>
              </a:rPr>
              <a:t>K-Nearest Neighbors (KNN)</a:t>
            </a:r>
            <a:r>
              <a:rPr kumimoji="0" lang="en-US" altLang="en-US" sz="2400" b="0" i="0" u="none" strike="noStrike" cap="none" normalizeH="0" baseline="0" dirty="0">
                <a:ln>
                  <a:noFill/>
                </a:ln>
                <a:solidFill>
                  <a:schemeClr val="tx1"/>
                </a:solidFill>
                <a:effectLst/>
                <a:latin typeface="Arial" panose="020B0604020202020204" pitchFamily="34" charset="0"/>
              </a:rPr>
              <a:t> – Compares new samples with stored data to identify adulterants. </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Arial" panose="020B0604020202020204" pitchFamily="34" charset="0"/>
              </a:rPr>
              <a:t>Artificial Neural Networks (ANN)</a:t>
            </a:r>
            <a:r>
              <a:rPr kumimoji="0" lang="en-US" altLang="en-US" sz="2400" b="0" i="0" u="none" strike="noStrike" cap="none" normalizeH="0" baseline="0" dirty="0">
                <a:ln>
                  <a:noFill/>
                </a:ln>
                <a:solidFill>
                  <a:schemeClr val="tx1"/>
                </a:solidFill>
                <a:effectLst/>
                <a:latin typeface="Arial" panose="020B0604020202020204" pitchFamily="34" charset="0"/>
              </a:rPr>
              <a:t> – Learns complex patterns in sensor data for precise classification. </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chemeClr val="tx1"/>
                </a:solidFill>
                <a:effectLst/>
                <a:latin typeface="Arial" panose="020B0604020202020204" pitchFamily="34" charset="0"/>
              </a:rPr>
              <a:t>Principal Component Analysis (PCA)</a:t>
            </a:r>
            <a:r>
              <a:rPr kumimoji="0" lang="en-US" altLang="en-US" sz="2400" b="0" i="0" u="none" strike="noStrike" cap="none" normalizeH="0" baseline="0" dirty="0">
                <a:ln>
                  <a:noFill/>
                </a:ln>
                <a:solidFill>
                  <a:schemeClr val="tx1"/>
                </a:solidFill>
                <a:effectLst/>
                <a:latin typeface="Arial" panose="020B0604020202020204" pitchFamily="34" charset="0"/>
              </a:rPr>
              <a:t> – Reduces dimensionality and selects important features for better model performance.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1"/>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Implementation</a:t>
            </a:r>
            <a:endParaRPr/>
          </a:p>
        </p:txBody>
      </p:sp>
      <p:sp>
        <p:nvSpPr>
          <p:cNvPr id="293" name="Google Shape;29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294" name="Google Shape;29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295" name="Google Shape;29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a:p>
        </p:txBody>
      </p:sp>
      <p:pic>
        <p:nvPicPr>
          <p:cNvPr id="3" name="Picture 2">
            <a:extLst>
              <a:ext uri="{FF2B5EF4-FFF2-40B4-BE49-F238E27FC236}">
                <a16:creationId xmlns:a16="http://schemas.microsoft.com/office/drawing/2014/main" id="{CB84CEAD-0F71-64F3-E88C-1F00FECD5D66}"/>
              </a:ext>
            </a:extLst>
          </p:cNvPr>
          <p:cNvPicPr>
            <a:picLocks noChangeAspect="1"/>
          </p:cNvPicPr>
          <p:nvPr/>
        </p:nvPicPr>
        <p:blipFill>
          <a:blip r:embed="rId3"/>
          <a:srcRect/>
          <a:stretch/>
        </p:blipFill>
        <p:spPr>
          <a:xfrm>
            <a:off x="432616" y="1211765"/>
            <a:ext cx="8229601" cy="42255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0"/>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Implementation</a:t>
            </a:r>
            <a:endParaRPr/>
          </a:p>
        </p:txBody>
      </p:sp>
      <p:sp>
        <p:nvSpPr>
          <p:cNvPr id="281" name="Google Shape;2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282" name="Google Shape;2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endParaRPr dirty="0"/>
          </a:p>
        </p:txBody>
      </p:sp>
      <p:sp>
        <p:nvSpPr>
          <p:cNvPr id="283" name="Google Shape;2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16</a:t>
            </a:fld>
            <a:endParaRPr/>
          </a:p>
        </p:txBody>
      </p:sp>
      <p:pic>
        <p:nvPicPr>
          <p:cNvPr id="4" name="Picture 3">
            <a:extLst>
              <a:ext uri="{FF2B5EF4-FFF2-40B4-BE49-F238E27FC236}">
                <a16:creationId xmlns:a16="http://schemas.microsoft.com/office/drawing/2014/main" id="{A9CF17AD-71EA-A672-F851-C565215FC401}"/>
              </a:ext>
            </a:extLst>
          </p:cNvPr>
          <p:cNvPicPr>
            <a:picLocks noChangeAspect="1"/>
          </p:cNvPicPr>
          <p:nvPr/>
        </p:nvPicPr>
        <p:blipFill>
          <a:blip r:embed="rId3"/>
          <a:srcRect/>
          <a:stretch/>
        </p:blipFill>
        <p:spPr>
          <a:xfrm>
            <a:off x="594852" y="1267578"/>
            <a:ext cx="8091948" cy="41851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2"/>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Implementation</a:t>
            </a:r>
            <a:endParaRPr/>
          </a:p>
        </p:txBody>
      </p:sp>
      <p:sp>
        <p:nvSpPr>
          <p:cNvPr id="304" name="Google Shape;30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05" name="Google Shape;30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06" name="Google Shape;30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17</a:t>
            </a:fld>
            <a:endParaRPr/>
          </a:p>
        </p:txBody>
      </p:sp>
      <p:pic>
        <p:nvPicPr>
          <p:cNvPr id="5" name="Picture 4">
            <a:extLst>
              <a:ext uri="{FF2B5EF4-FFF2-40B4-BE49-F238E27FC236}">
                <a16:creationId xmlns:a16="http://schemas.microsoft.com/office/drawing/2014/main" id="{E08EB046-8733-F54F-14BE-D7BE0686FC82}"/>
              </a:ext>
            </a:extLst>
          </p:cNvPr>
          <p:cNvPicPr>
            <a:picLocks noChangeAspect="1"/>
          </p:cNvPicPr>
          <p:nvPr/>
        </p:nvPicPr>
        <p:blipFill>
          <a:blip r:embed="rId3"/>
          <a:srcRect/>
          <a:stretch/>
        </p:blipFill>
        <p:spPr>
          <a:xfrm>
            <a:off x="3048690" y="1397920"/>
            <a:ext cx="3046620" cy="4062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17" name="Google Shape;31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18" name="Google Shape;31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18</a:t>
            </a:fld>
            <a:endParaRPr/>
          </a:p>
        </p:txBody>
      </p:sp>
      <p:sp>
        <p:nvSpPr>
          <p:cNvPr id="319" name="Google Shape;319;p23"/>
          <p:cNvSpPr txBox="1">
            <a:spLocks noGrp="1"/>
          </p:cNvSpPr>
          <p:nvPr>
            <p:ph type="title"/>
          </p:nvPr>
        </p:nvSpPr>
        <p:spPr>
          <a:xfrm>
            <a:off x="426267"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Performance Evaluation</a:t>
            </a:r>
            <a:endParaRPr/>
          </a:p>
        </p:txBody>
      </p:sp>
      <p:pic>
        <p:nvPicPr>
          <p:cNvPr id="3" name="Picture 2">
            <a:extLst>
              <a:ext uri="{FF2B5EF4-FFF2-40B4-BE49-F238E27FC236}">
                <a16:creationId xmlns:a16="http://schemas.microsoft.com/office/drawing/2014/main" id="{CCBEAE36-6DA3-E76E-7010-17315553D5F2}"/>
              </a:ext>
            </a:extLst>
          </p:cNvPr>
          <p:cNvPicPr>
            <a:picLocks noChangeAspect="1"/>
          </p:cNvPicPr>
          <p:nvPr/>
        </p:nvPicPr>
        <p:blipFill>
          <a:blip r:embed="rId3"/>
          <a:stretch>
            <a:fillRect/>
          </a:stretch>
        </p:blipFill>
        <p:spPr>
          <a:xfrm>
            <a:off x="694210" y="1143000"/>
            <a:ext cx="7992590" cy="46393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4"/>
          <p:cNvSpPr txBox="1">
            <a:spLocks noGrp="1"/>
          </p:cNvSpPr>
          <p:nvPr>
            <p:ph type="title"/>
          </p:nvPr>
        </p:nvSpPr>
        <p:spPr>
          <a:xfrm>
            <a:off x="456746"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Performance Evaluation</a:t>
            </a:r>
            <a:endParaRPr/>
          </a:p>
        </p:txBody>
      </p:sp>
      <p:sp>
        <p:nvSpPr>
          <p:cNvPr id="327" name="Google Shape;32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28" name="Google Shape;32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29" name="Google Shape;32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19</a:t>
            </a:fld>
            <a:endParaRPr/>
          </a:p>
        </p:txBody>
      </p:sp>
      <p:pic>
        <p:nvPicPr>
          <p:cNvPr id="5" name="Picture 4">
            <a:extLst>
              <a:ext uri="{FF2B5EF4-FFF2-40B4-BE49-F238E27FC236}">
                <a16:creationId xmlns:a16="http://schemas.microsoft.com/office/drawing/2014/main" id="{DCD68769-A109-5C81-A2E7-3A1D2AE53FDC}"/>
              </a:ext>
            </a:extLst>
          </p:cNvPr>
          <p:cNvPicPr>
            <a:picLocks noChangeAspect="1"/>
          </p:cNvPicPr>
          <p:nvPr/>
        </p:nvPicPr>
        <p:blipFill>
          <a:blip r:embed="rId3"/>
          <a:stretch>
            <a:fillRect/>
          </a:stretch>
        </p:blipFill>
        <p:spPr>
          <a:xfrm>
            <a:off x="1237296" y="1300758"/>
            <a:ext cx="6669407" cy="49243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7"/>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System Requirements</a:t>
            </a:r>
            <a:endParaRPr/>
          </a:p>
        </p:txBody>
      </p:sp>
      <p:sp>
        <p:nvSpPr>
          <p:cNvPr id="359" name="Google Shape;359;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60" name="Google Shape;360;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61" name="Google Shape;361;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20</a:t>
            </a:fld>
            <a:endParaRPr/>
          </a:p>
        </p:txBody>
      </p:sp>
      <p:sp>
        <p:nvSpPr>
          <p:cNvPr id="3" name="Rectangle 2">
            <a:extLst>
              <a:ext uri="{FF2B5EF4-FFF2-40B4-BE49-F238E27FC236}">
                <a16:creationId xmlns:a16="http://schemas.microsoft.com/office/drawing/2014/main" id="{1D9F3BF7-B38D-3A2C-092B-615521CBF2D4}"/>
              </a:ext>
            </a:extLst>
          </p:cNvPr>
          <p:cNvSpPr>
            <a:spLocks noChangeArrowheads="1"/>
          </p:cNvSpPr>
          <p:nvPr/>
        </p:nvSpPr>
        <p:spPr bwMode="auto">
          <a:xfrm>
            <a:off x="0" y="1397674"/>
            <a:ext cx="10171471"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Python, TensorFlow, scikit-learn </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Pandas, NumPy, </a:t>
            </a:r>
            <a:r>
              <a:rPr kumimoji="0" lang="en-US" altLang="en-US" sz="2400" b="0" i="0" u="none" strike="noStrike" cap="none" normalizeH="0" baseline="0" dirty="0" err="1">
                <a:ln>
                  <a:noFill/>
                </a:ln>
                <a:solidFill>
                  <a:schemeClr val="tx1"/>
                </a:solidFill>
                <a:effectLst/>
                <a:latin typeface="Arial" panose="020B0604020202020204" pitchFamily="34" charset="0"/>
              </a:rPr>
              <a:t>Matplotlib</a:t>
            </a:r>
            <a:r>
              <a:rPr lang="en-US" altLang="en-US" sz="2400" dirty="0" err="1">
                <a:solidFill>
                  <a:schemeClr val="tx1"/>
                </a:solidFill>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Temperature </a:t>
            </a:r>
            <a:r>
              <a:rPr kumimoji="0" lang="en-US" altLang="en-US" sz="2400" b="0" i="0" u="none" strike="noStrike" cap="none" normalizeH="0" baseline="0" dirty="0" err="1">
                <a:ln>
                  <a:noFill/>
                </a:ln>
                <a:solidFill>
                  <a:schemeClr val="tx1"/>
                </a:solidFill>
                <a:effectLst/>
                <a:latin typeface="Arial" panose="020B0604020202020204" pitchFamily="34" charset="0"/>
              </a:rPr>
              <a:t>Sensor,Aurdino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UNO,Buzzer,LED</a:t>
            </a:r>
            <a:r>
              <a:rPr kumimoji="0" lang="en-US" altLang="en-US" sz="2400" b="0" i="0" u="none" strike="noStrike" cap="none" normalizeH="0" baseline="0" dirty="0">
                <a:ln>
                  <a:noFill/>
                </a:ln>
                <a:solidFill>
                  <a:schemeClr val="tx1"/>
                </a:solidFill>
                <a:effectLst/>
                <a:latin typeface="Arial" panose="020B0604020202020204" pitchFamily="34" charset="0"/>
              </a:rPr>
              <a:t> Display</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 USED: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Machine learning (SVM, Random Forest, ANN)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IoT for real-time detection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Data analytics and visualization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8"/>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List of Publications</a:t>
            </a:r>
            <a:endParaRPr/>
          </a:p>
        </p:txBody>
      </p:sp>
      <p:sp>
        <p:nvSpPr>
          <p:cNvPr id="368" name="Google Shape;36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69" name="Google Shape;36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70" name="Google Shape;37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21</a:t>
            </a:fld>
            <a:endParaRPr/>
          </a:p>
        </p:txBody>
      </p:sp>
      <p:sp>
        <p:nvSpPr>
          <p:cNvPr id="371" name="Google Shape;371;p28"/>
          <p:cNvSpPr txBox="1"/>
          <p:nvPr/>
        </p:nvSpPr>
        <p:spPr>
          <a:xfrm>
            <a:off x="560687" y="1680607"/>
            <a:ext cx="8022626" cy="553957"/>
          </a:xfrm>
          <a:prstGeom prst="rect">
            <a:avLst/>
          </a:prstGeom>
          <a:noFill/>
          <a:ln>
            <a:noFill/>
          </a:ln>
        </p:spPr>
        <p:txBody>
          <a:bodyPr spcFirstLastPara="1" wrap="square" lIns="91425" tIns="45700" rIns="91425" bIns="45700" anchor="t" anchorCtr="0">
            <a:spAutoFit/>
          </a:bodyPr>
          <a:lstStyle/>
          <a:p>
            <a:pPr marL="285750" marR="0" lvl="0" indent="-18415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285750" marR="0" lvl="0" indent="-285750" algn="just" rtl="0">
              <a:spcBef>
                <a:spcPts val="0"/>
              </a:spcBef>
              <a:spcAft>
                <a:spcPts val="0"/>
              </a:spcAft>
              <a:buClr>
                <a:schemeClr val="dk1"/>
              </a:buClr>
              <a:buSzPts val="1600"/>
            </a:pPr>
            <a:endParaRPr dirty="0"/>
          </a:p>
        </p:txBody>
      </p:sp>
      <p:pic>
        <p:nvPicPr>
          <p:cNvPr id="3" name="Picture 2">
            <a:extLst>
              <a:ext uri="{FF2B5EF4-FFF2-40B4-BE49-F238E27FC236}">
                <a16:creationId xmlns:a16="http://schemas.microsoft.com/office/drawing/2014/main" id="{1D277316-0565-C52E-8033-DF04964DA438}"/>
              </a:ext>
            </a:extLst>
          </p:cNvPr>
          <p:cNvPicPr>
            <a:picLocks noChangeAspect="1"/>
          </p:cNvPicPr>
          <p:nvPr/>
        </p:nvPicPr>
        <p:blipFill>
          <a:blip r:embed="rId3"/>
          <a:stretch>
            <a:fillRect/>
          </a:stretch>
        </p:blipFill>
        <p:spPr>
          <a:xfrm>
            <a:off x="2403191" y="1143000"/>
            <a:ext cx="4337618" cy="49276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77" name="Google Shape;37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22</a:t>
            </a:fld>
            <a:endParaRPr/>
          </a:p>
        </p:txBody>
      </p:sp>
      <p:sp>
        <p:nvSpPr>
          <p:cNvPr id="378" name="Google Shape;378;p29"/>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References</a:t>
            </a:r>
            <a:endParaRPr/>
          </a:p>
        </p:txBody>
      </p:sp>
      <p:sp>
        <p:nvSpPr>
          <p:cNvPr id="379" name="Google Shape;379;p2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888888"/>
                </a:solidFill>
                <a:latin typeface="Calibri"/>
                <a:ea typeface="Calibri"/>
                <a:cs typeface="Calibri"/>
                <a:sym typeface="Calibri"/>
              </a:rPr>
              <a:pPr marL="0" marR="0" lvl="0" indent="0" algn="r" rtl="0">
                <a:spcBef>
                  <a:spcPts val="0"/>
                </a:spcBef>
                <a:spcAft>
                  <a:spcPts val="0"/>
                </a:spcAft>
                <a:buNone/>
              </a:pPr>
              <a:t>22</a:t>
            </a:fld>
            <a:endParaRPr sz="1200">
              <a:solidFill>
                <a:srgbClr val="888888"/>
              </a:solidFill>
              <a:latin typeface="Calibri"/>
              <a:ea typeface="Calibri"/>
              <a:cs typeface="Calibri"/>
              <a:sym typeface="Calibri"/>
            </a:endParaRPr>
          </a:p>
        </p:txBody>
      </p:sp>
      <p:sp>
        <p:nvSpPr>
          <p:cNvPr id="380" name="Google Shape;380;p29"/>
          <p:cNvSpPr txBox="1">
            <a:spLocks noGrp="1"/>
          </p:cNvSpPr>
          <p:nvPr>
            <p:ph type="ftr" idx="11"/>
          </p:nvPr>
        </p:nvSpPr>
        <p:spPr>
          <a:xfrm>
            <a:off x="3124200" y="6400799"/>
            <a:ext cx="2895600" cy="365125"/>
          </a:xfrm>
          <a:prstGeom prst="rect">
            <a:avLst/>
          </a:prstGeom>
          <a:noFill/>
          <a:ln>
            <a:noFill/>
          </a:ln>
        </p:spPr>
        <p:txBody>
          <a:bodyPr spcFirstLastPara="1" wrap="square" lIns="91425" tIns="45700" rIns="91425" bIns="45700" anchor="ctr" anchorCtr="0">
            <a:noAutofit/>
          </a:bodyPr>
          <a:lstStyle/>
          <a:p>
            <a:r>
              <a:rPr lang="en-US" dirty="0"/>
              <a:t>Final Review</a:t>
            </a:r>
          </a:p>
          <a:p>
            <a:pPr marL="0" lvl="0" indent="0" algn="ctr" rtl="0">
              <a:spcBef>
                <a:spcPts val="0"/>
              </a:spcBef>
              <a:spcAft>
                <a:spcPts val="0"/>
              </a:spcAft>
              <a:buNone/>
            </a:pPr>
            <a:endParaRPr dirty="0"/>
          </a:p>
        </p:txBody>
      </p:sp>
      <p:sp>
        <p:nvSpPr>
          <p:cNvPr id="3" name="TextBox 2">
            <a:extLst>
              <a:ext uri="{FF2B5EF4-FFF2-40B4-BE49-F238E27FC236}">
                <a16:creationId xmlns:a16="http://schemas.microsoft.com/office/drawing/2014/main" id="{ECF5FC3E-2D8C-3664-D5D8-EFFC6BF4B859}"/>
              </a:ext>
            </a:extLst>
          </p:cNvPr>
          <p:cNvSpPr txBox="1"/>
          <p:nvPr/>
        </p:nvSpPr>
        <p:spPr>
          <a:xfrm>
            <a:off x="570271" y="1359542"/>
            <a:ext cx="7777316" cy="4524315"/>
          </a:xfrm>
          <a:prstGeom prst="rect">
            <a:avLst/>
          </a:prstGeom>
          <a:noFill/>
        </p:spPr>
        <p:txBody>
          <a:bodyPr wrap="square">
            <a:spAutoFit/>
          </a:bodyPr>
          <a:lstStyle/>
          <a:p>
            <a:pPr marL="426085"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M. Samad Khan, F. </a:t>
            </a:r>
            <a:r>
              <a:rPr lang="en-US" sz="2400" dirty="0" err="1">
                <a:latin typeface="Arial" panose="020B0604020202020204" pitchFamily="34" charset="0"/>
                <a:cs typeface="Arial" panose="020B0604020202020204" pitchFamily="34" charset="0"/>
              </a:rPr>
              <a:t>Nowshad</a:t>
            </a:r>
            <a:r>
              <a:rPr lang="en-US" sz="2400" dirty="0">
                <a:latin typeface="Arial" panose="020B0604020202020204" pitchFamily="34" charset="0"/>
                <a:cs typeface="Arial" panose="020B0604020202020204" pitchFamily="34" charset="0"/>
              </a:rPr>
              <a:t>, and M. d. N. Islam, "Concentration and formation behavior of naturally occurring formaldehyde in foods," </a:t>
            </a:r>
            <a:r>
              <a:rPr lang="en-US" sz="2400" dirty="0" err="1">
                <a:latin typeface="Arial" panose="020B0604020202020204" pitchFamily="34" charset="0"/>
                <a:cs typeface="Arial" panose="020B0604020202020204" pitchFamily="34" charset="0"/>
              </a:rPr>
              <a:t>Nowshad</a:t>
            </a:r>
            <a:r>
              <a:rPr lang="en-US" sz="2400" dirty="0">
                <a:latin typeface="Arial" panose="020B0604020202020204" pitchFamily="34" charset="0"/>
                <a:cs typeface="Arial" panose="020B0604020202020204" pitchFamily="34" charset="0"/>
              </a:rPr>
              <a:t> et al. Agric &amp; Food </a:t>
            </a:r>
            <a:r>
              <a:rPr lang="en-US" sz="2400" dirty="0" err="1">
                <a:latin typeface="Arial" panose="020B0604020202020204" pitchFamily="34" charset="0"/>
                <a:cs typeface="Arial" panose="020B0604020202020204" pitchFamily="34" charset="0"/>
              </a:rPr>
              <a:t>Secur</a:t>
            </a:r>
            <a:r>
              <a:rPr lang="en-US" sz="2400" dirty="0">
                <a:latin typeface="Arial" panose="020B0604020202020204" pitchFamily="34" charset="0"/>
                <a:cs typeface="Arial" panose="020B0604020202020204" pitchFamily="34" charset="0"/>
              </a:rPr>
              <a:t>, 2018.</a:t>
            </a:r>
          </a:p>
          <a:p>
            <a:pPr marL="426085"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K. </a:t>
            </a:r>
            <a:r>
              <a:rPr lang="en-US" sz="2400" dirty="0" err="1">
                <a:latin typeface="Arial" panose="020B0604020202020204" pitchFamily="34" charset="0"/>
                <a:cs typeface="Arial" panose="020B0604020202020204" pitchFamily="34" charset="0"/>
              </a:rPr>
              <a:t>Everstine</a:t>
            </a:r>
            <a:r>
              <a:rPr lang="en-US" sz="2400" dirty="0">
                <a:latin typeface="Arial" panose="020B0604020202020204" pitchFamily="34" charset="0"/>
                <a:cs typeface="Arial" panose="020B0604020202020204" pitchFamily="34" charset="0"/>
              </a:rPr>
              <a:t>, J. Spink, S. Kennedy, Economically motivated adulteration (EMA) of food: common characteristics of EMA incidents, J. Food Protect. 76 (4) (2013) 723–735</a:t>
            </a:r>
          </a:p>
          <a:p>
            <a:pPr marL="426085"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P.J. Ramos, F.A. Prieto, E.C. Montoya, C.E. Oliveros, Automatic fruit count on coffee branches using computer vision, </a:t>
            </a:r>
            <a:r>
              <a:rPr lang="en-IN" sz="2400" dirty="0" err="1">
                <a:latin typeface="Arial" panose="020B0604020202020204" pitchFamily="34" charset="0"/>
                <a:cs typeface="Arial" panose="020B0604020202020204" pitchFamily="34" charset="0"/>
              </a:rPr>
              <a:t>Comput</a:t>
            </a:r>
            <a:r>
              <a:rPr lang="en-IN" sz="2400" dirty="0">
                <a:latin typeface="Arial" panose="020B0604020202020204" pitchFamily="34" charset="0"/>
                <a:cs typeface="Arial" panose="020B0604020202020204" pitchFamily="34" charset="0"/>
              </a:rPr>
              <a:t>. Electron. Agric. 137 (2017) 9–22</a:t>
            </a: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387" name="Google Shape;38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23</a:t>
            </a:fld>
            <a:endParaRPr/>
          </a:p>
        </p:txBody>
      </p:sp>
      <p:sp>
        <p:nvSpPr>
          <p:cNvPr id="388" name="Google Shape;388;p30"/>
          <p:cNvSpPr txBox="1">
            <a:spLocks noGrp="1"/>
          </p:cNvSpPr>
          <p:nvPr>
            <p:ph type="title"/>
          </p:nvPr>
        </p:nvSpPr>
        <p:spPr>
          <a:xfrm>
            <a:off x="685800" y="228600"/>
            <a:ext cx="82296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References</a:t>
            </a:r>
            <a:endParaRPr/>
          </a:p>
        </p:txBody>
      </p:sp>
      <p:sp>
        <p:nvSpPr>
          <p:cNvPr id="389" name="Google Shape;389;p3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888888"/>
                </a:solidFill>
                <a:latin typeface="Calibri"/>
                <a:ea typeface="Calibri"/>
                <a:cs typeface="Calibri"/>
                <a:sym typeface="Calibri"/>
              </a:rPr>
              <a:pPr marL="0" marR="0" lvl="0" indent="0" algn="r" rtl="0">
                <a:spcBef>
                  <a:spcPts val="0"/>
                </a:spcBef>
                <a:spcAft>
                  <a:spcPts val="0"/>
                </a:spcAft>
                <a:buNone/>
              </a:pPr>
              <a:t>23</a:t>
            </a:fld>
            <a:endParaRPr sz="1200">
              <a:solidFill>
                <a:srgbClr val="888888"/>
              </a:solidFill>
              <a:latin typeface="Calibri"/>
              <a:ea typeface="Calibri"/>
              <a:cs typeface="Calibri"/>
              <a:sym typeface="Calibri"/>
            </a:endParaRPr>
          </a:p>
        </p:txBody>
      </p:sp>
      <p:sp>
        <p:nvSpPr>
          <p:cNvPr id="390" name="Google Shape;390;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Final Review</a:t>
            </a:r>
          </a:p>
        </p:txBody>
      </p:sp>
      <p:sp>
        <p:nvSpPr>
          <p:cNvPr id="3" name="TextBox 2">
            <a:extLst>
              <a:ext uri="{FF2B5EF4-FFF2-40B4-BE49-F238E27FC236}">
                <a16:creationId xmlns:a16="http://schemas.microsoft.com/office/drawing/2014/main" id="{F0D1E91F-CFF0-6B13-BC73-B60A63F6A731}"/>
              </a:ext>
            </a:extLst>
          </p:cNvPr>
          <p:cNvSpPr txBox="1"/>
          <p:nvPr/>
        </p:nvSpPr>
        <p:spPr>
          <a:xfrm>
            <a:off x="820993" y="1177364"/>
            <a:ext cx="7762568" cy="3785652"/>
          </a:xfrm>
          <a:prstGeom prst="rect">
            <a:avLst/>
          </a:prstGeom>
          <a:noFill/>
        </p:spPr>
        <p:txBody>
          <a:bodyPr wrap="square">
            <a:spAutoFit/>
          </a:bodyPr>
          <a:lstStyle/>
          <a:p>
            <a:pPr marL="426085"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S. Dea, E. A. Baldwin, J. Bai, and A. </a:t>
            </a:r>
            <a:r>
              <a:rPr lang="en-US" sz="2400" dirty="0" err="1">
                <a:latin typeface="Arial" panose="020B0604020202020204" pitchFamily="34" charset="0"/>
                <a:cs typeface="Arial" panose="020B0604020202020204" pitchFamily="34" charset="0"/>
              </a:rPr>
              <a:t>Plotto</a:t>
            </a:r>
            <a:r>
              <a:rPr lang="en-US" sz="2400" dirty="0">
                <a:latin typeface="Arial" panose="020B0604020202020204" pitchFamily="34" charset="0"/>
                <a:cs typeface="Arial" panose="020B0604020202020204" pitchFamily="34" charset="0"/>
              </a:rPr>
              <a:t>, "Electronic noses and tongues: Applications for the food and pharmaceutical industries." Sensors, 2011</a:t>
            </a:r>
          </a:p>
          <a:p>
            <a:pPr marL="426085"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W. Reza, S. D. Barman, K. Tabassum, A. A. </a:t>
            </a:r>
            <a:r>
              <a:rPr lang="en-US" sz="2400" dirty="0" err="1">
                <a:latin typeface="Arial" panose="020B0604020202020204" pitchFamily="34" charset="0"/>
                <a:cs typeface="Arial" panose="020B0604020202020204" pitchFamily="34" charset="0"/>
              </a:rPr>
              <a:t>Memi</a:t>
            </a:r>
            <a:r>
              <a:rPr lang="en-US" sz="2400" dirty="0">
                <a:latin typeface="Arial" panose="020B0604020202020204" pitchFamily="34" charset="0"/>
                <a:cs typeface="Arial" panose="020B0604020202020204" pitchFamily="34" charset="0"/>
              </a:rPr>
              <a:t>, and N. Sultana, "Food and formalin detector using machine learning." International Journal of Machine Learning and Computing, 2019.</a:t>
            </a:r>
          </a:p>
          <a:p>
            <a:pPr marL="426085"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C.C. Wee, V.K. Subbiah, M. Arita, H.H. Goh, The applications of network analysis in fruit ripening, Sci. </a:t>
            </a:r>
            <a:r>
              <a:rPr lang="en-US" sz="2400" dirty="0" err="1">
                <a:latin typeface="Arial" panose="020B0604020202020204" pitchFamily="34" charset="0"/>
                <a:cs typeface="Arial" panose="020B0604020202020204" pitchFamily="34" charset="0"/>
              </a:rPr>
              <a:t>Hortic</a:t>
            </a:r>
            <a:r>
              <a:rPr lang="en-US" sz="2400" dirty="0">
                <a:latin typeface="Arial" panose="020B0604020202020204" pitchFamily="34" charset="0"/>
                <a:cs typeface="Arial" panose="020B0604020202020204" pitchFamily="34" charset="0"/>
              </a:rPr>
              <a:t>. 311 (Mar. 2023), 111785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r>
              <a:rPr lang="en-US" dirty="0"/>
              <a:t>24/03/2025</a:t>
            </a:r>
          </a:p>
        </p:txBody>
      </p:sp>
      <p:sp>
        <p:nvSpPr>
          <p:cNvPr id="407" name="Google Shape;40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24</a:t>
            </a:fld>
            <a:endParaRPr/>
          </a:p>
        </p:txBody>
      </p:sp>
      <p:sp>
        <p:nvSpPr>
          <p:cNvPr id="408" name="Google Shape;408;p32"/>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Autofit/>
          </a:bodyPr>
          <a:lstStyle/>
          <a:p>
            <a:pPr marL="342900" lvl="0" indent="-342900" algn="ctr" rtl="0">
              <a:spcBef>
                <a:spcPts val="0"/>
              </a:spcBef>
              <a:spcAft>
                <a:spcPts val="0"/>
              </a:spcAft>
              <a:buClr>
                <a:schemeClr val="dk1"/>
              </a:buClr>
              <a:buSzPts val="3200"/>
              <a:buFont typeface="Arial"/>
              <a:buNone/>
            </a:pPr>
            <a:endParaRPr dirty="0"/>
          </a:p>
          <a:p>
            <a:pPr marL="342900" lvl="0" indent="-342900" algn="ctr" rtl="0">
              <a:spcBef>
                <a:spcPts val="640"/>
              </a:spcBef>
              <a:spcAft>
                <a:spcPts val="0"/>
              </a:spcAft>
              <a:buClr>
                <a:schemeClr val="dk1"/>
              </a:buClr>
              <a:buSzPts val="3200"/>
              <a:buFont typeface="Arial"/>
              <a:buNone/>
            </a:pPr>
            <a:endParaRPr dirty="0"/>
          </a:p>
          <a:p>
            <a:pPr marL="342900" lvl="0" indent="-342900" algn="ctr" rtl="0">
              <a:spcBef>
                <a:spcPts val="640"/>
              </a:spcBef>
              <a:spcAft>
                <a:spcPts val="0"/>
              </a:spcAft>
              <a:buClr>
                <a:schemeClr val="dk1"/>
              </a:buClr>
              <a:buSzPts val="3200"/>
              <a:buFont typeface="Arial"/>
              <a:buNone/>
            </a:pPr>
            <a:endParaRPr dirty="0"/>
          </a:p>
          <a:p>
            <a:pPr marL="342900" lvl="0" indent="-342900" algn="ctr" rtl="0">
              <a:spcBef>
                <a:spcPts val="700"/>
              </a:spcBef>
              <a:spcAft>
                <a:spcPts val="0"/>
              </a:spcAft>
              <a:buClr>
                <a:schemeClr val="dk1"/>
              </a:buClr>
              <a:buSzPts val="3500"/>
              <a:buFont typeface="Arial"/>
              <a:buNone/>
            </a:pPr>
            <a:r>
              <a:rPr lang="en-US" sz="3500" dirty="0">
                <a:latin typeface="Arial Black"/>
                <a:ea typeface="Arial Black"/>
                <a:cs typeface="Arial Black"/>
                <a:sym typeface="Arial Black"/>
              </a:rPr>
              <a:t>Thank You</a:t>
            </a:r>
            <a:endParaRPr dirty="0"/>
          </a:p>
        </p:txBody>
      </p:sp>
      <p:sp>
        <p:nvSpPr>
          <p:cNvPr id="409" name="Google Shape;409;p3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888888"/>
                </a:solidFill>
                <a:latin typeface="Calibri"/>
                <a:ea typeface="Calibri"/>
                <a:cs typeface="Calibri"/>
                <a:sym typeface="Calibri"/>
              </a:rPr>
              <a:pPr marL="0" marR="0" lvl="0" indent="0" algn="r" rtl="0">
                <a:spcBef>
                  <a:spcPts val="0"/>
                </a:spcBef>
                <a:spcAft>
                  <a:spcPts val="0"/>
                </a:spcAft>
                <a:buNone/>
              </a:pPr>
              <a:t>24</a:t>
            </a:fld>
            <a:endParaRPr sz="1200">
              <a:solidFill>
                <a:srgbClr val="888888"/>
              </a:solidFill>
              <a:latin typeface="Calibri"/>
              <a:ea typeface="Calibri"/>
              <a:cs typeface="Calibri"/>
              <a:sym typeface="Calibri"/>
            </a:endParaRPr>
          </a:p>
        </p:txBody>
      </p:sp>
      <p:sp>
        <p:nvSpPr>
          <p:cNvPr id="410" name="Google Shape;410;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Final Review</a:t>
            </a:r>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TotalTime>
  <Words>1481</Words>
  <Application>Microsoft Office PowerPoint</Application>
  <PresentationFormat>On-screen Show (4:3)</PresentationFormat>
  <Paragraphs>283</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 Black</vt:lpstr>
      <vt:lpstr>Arial</vt:lpstr>
      <vt:lpstr>Times New Roman</vt:lpstr>
      <vt:lpstr>Calibri</vt:lpstr>
      <vt:lpstr>Office Theme</vt:lpstr>
      <vt:lpstr>PowerPoint Presentation</vt:lpstr>
      <vt:lpstr>Introduction </vt:lpstr>
      <vt:lpstr>Objective(s)</vt:lpstr>
      <vt:lpstr>Motivation </vt:lpstr>
      <vt:lpstr>Literature Survey</vt:lpstr>
      <vt:lpstr>Literature Survey</vt:lpstr>
      <vt:lpstr>Literature Survey</vt:lpstr>
      <vt:lpstr>Issues in Existing system</vt:lpstr>
      <vt:lpstr>Proposed System</vt:lpstr>
      <vt:lpstr> Architecture Diagram</vt:lpstr>
      <vt:lpstr>List of modules</vt:lpstr>
      <vt:lpstr>Module 1- Data collection module </vt:lpstr>
      <vt:lpstr>Functional Architecture of Module 1</vt:lpstr>
      <vt:lpstr>Algorithm Used</vt:lpstr>
      <vt:lpstr>Implementation</vt:lpstr>
      <vt:lpstr>Implementation</vt:lpstr>
      <vt:lpstr>Implementation</vt:lpstr>
      <vt:lpstr>Performance Evaluation</vt:lpstr>
      <vt:lpstr>Performance Evaluation</vt:lpstr>
      <vt:lpstr>System Requirements</vt:lpstr>
      <vt:lpstr>List of Publications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Lijesh.S</cp:lastModifiedBy>
  <cp:revision>20</cp:revision>
  <dcterms:created xsi:type="dcterms:W3CDTF">2011-08-12T07:40:34Z</dcterms:created>
  <dcterms:modified xsi:type="dcterms:W3CDTF">2025-03-24T06:06:21Z</dcterms:modified>
</cp:coreProperties>
</file>